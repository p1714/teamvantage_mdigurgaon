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AUROC</c:v>
                </c:pt>
              </c:strCache>
            </c:strRef>
          </c:tx>
          <c:spPr>
            <a:solidFill>
              <a:srgbClr val="9AA6AB"/>
            </a:solidFill>
            <a:effectLst/>
          </c:spPr>
          <c:invertIfNegative val="0"/>
          <c:dLbls>
            <c:numFmt formatCode="0.000" sourceLinked="0"/>
            <c:txPr>
              <a:bodyPr/>
              <a:lstStyle/>
              <a:p>
                <a:pPr>
                  <a:defRPr b="0" i="0" strike="noStrike" sz="1100" u="none">
                    <a:solidFill>
                      <a:srgbClr val="15222A"/>
                    </a:solidFill>
                    <a:latin typeface="Arial"/>
                  </a:defRPr>
                </a:pPr>
              </a:p>
            </c:txPr>
            <c:showLegendKey val="0"/>
            <c:showVal val="1"/>
            <c:showCatName val="0"/>
            <c:showSerName val="0"/>
            <c:showPercent val="0"/>
            <c:showBubbleSize val="0"/>
            <c:showLeaderLines val="0"/>
          </c:dLbls>
          <c:dPt>
            <c:idx val="0"/>
            <c:invertIfNegative val="0"/>
            <c:bubble3D val="0"/>
            <c:spPr>
              <a:solidFill>
                <a:srgbClr val="9AA6AB"/>
              </a:solidFill>
              <a:effectLst/>
            </c:spPr>
          </c:dPt>
          <c:dPt>
            <c:idx val="1"/>
            <c:invertIfNegative val="0"/>
            <c:bubble3D val="0"/>
            <c:spPr>
              <a:solidFill>
                <a:srgbClr val="9AA6AB"/>
              </a:solidFill>
              <a:effectLst/>
            </c:spPr>
          </c:dPt>
          <c:dPt>
            <c:idx val="2"/>
            <c:invertIfNegative val="0"/>
            <c:bubble3D val="0"/>
            <c:spPr>
              <a:solidFill>
                <a:srgbClr val="9AA6AB"/>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1BAF7A"/>
              </a:solidFill>
              <a:effectLst/>
            </c:spPr>
          </c:dPt>
          <c:cat>
            <c:multiLvlStrRef>
              <c:f>Sheet1!$A$2:$A$8</c:f>
              <c:multiLvlStrCache>
                <c:ptCount val="7"/>
                <c:lvl>
                  <c:pt idx="0">
                    <c:v>CGM trend only</c:v>
                  </c:pt>
                  <c:pt idx="1">
                    <c:v>Time of day only</c:v>
                  </c:pt>
                  <c:pt idx="2">
                    <c:v>Twin physics alone</c:v>
                  </c:pt>
                  <c:pt idx="3">
                    <c:v>EHR only</c:v>
                  </c:pt>
                  <c:pt idx="4">
                    <c:v>Wearables only</c:v>
                  </c:pt>
                  <c:pt idx="5">
                    <c:v>EHR + wearables</c:v>
                  </c:pt>
                  <c:pt idx="6">
                    <c:v>MadhuTwin (all)</c:v>
                  </c:pt>
                </c:lvl>
              </c:multiLvlStrCache>
            </c:multiLvlStrRef>
          </c:cat>
          <c:val>
            <c:numRef>
              <c:f>Sheet1!$B$2:$B$8</c:f>
              <c:numCache>
                <c:formatCode>General</c:formatCode>
                <c:ptCount val="7"/>
                <c:pt idx="0">
                  <c:v>0.601</c:v>
                </c:pt>
                <c:pt idx="1">
                  <c:v>0.834</c:v>
                </c:pt>
                <c:pt idx="2">
                  <c:v>0.775</c:v>
                </c:pt>
                <c:pt idx="3">
                  <c:v>0.844</c:v>
                </c:pt>
                <c:pt idx="4">
                  <c:v>0.911</c:v>
                </c:pt>
                <c:pt idx="5">
                  <c:v>0.911</c:v>
                </c:pt>
                <c:pt idx="6">
                  <c:v>0.912</c:v>
                </c:pt>
              </c:numCache>
            </c:numRef>
          </c:val>
        </c:ser>
        <c:dLbls>
          <c:numFmt formatCode="0.000" sourceLinked="0"/>
          <c:txPr>
            <a:bodyPr/>
            <a:lstStyle/>
            <a:p>
              <a:pPr>
                <a:defRPr b="0" i="0" strike="noStrike" sz="1100" u="none">
                  <a:solidFill>
                    <a:srgbClr val="1522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5222A"/>
                </a:solidFill>
                <a:latin typeface="Arial"/>
              </a:defRPr>
            </a:pPr>
            <a:endParaRPr lang="en-US"/>
          </a:p>
        </c:txPr>
        <c:crossAx val="2094734552"/>
        <c:crosses val="autoZero"/>
        <c:auto val="1"/>
        <c:lblAlgn val="ctr"/>
        <c:noMultiLvlLbl val="1"/>
      </c:catAx>
      <c:valAx>
        <c:axId val="2094734552"/>
        <c:scaling>
          <c:orientation val="minMax"/>
          <c:max val="1"/>
          <c:min val="0.5"/>
        </c:scaling>
        <c:delete val="0"/>
        <c:axPos val="b"/>
        <c:majorGridlines>
          <c:spPr>
            <a:ln w="6350" cap="flat">
              <a:solidFill>
                <a:srgbClr val="E6E8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F8B8F"/>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C5A60"/>
                </a:solidFill>
                <a:latin typeface="Arial"/>
              </a:defRPr>
            </a:pPr>
            <a:r>
              <a:rPr sz="1300" b="0" i="0" u="none" strike="noStrike">
                <a:solidFill>
                  <a:srgbClr val="4C5A60"/>
                </a:solidFill>
                <a:latin typeface="Arial"/>
              </a:rPr>
              <a:t>AUROC gain from twin features vs training patients</a:t>
            </a:r>
          </a:p>
        </c:rich>
      </c:tx>
      <c:layout/>
      <c:overlay val="0"/>
    </c:title>
    <c:autoTitleDeleted val="0"/>
    <c:plotArea>
      <c:layout/>
      <c:barChart>
        <c:barDir val="col"/>
        <c:grouping val="clustered"/>
        <c:varyColors val="0"/>
        <c:ser>
          <c:idx val="0"/>
          <c:order val="0"/>
          <c:tx>
            <c:strRef>
              <c:f>Sheet1!$B$1</c:f>
              <c:strCache>
                <c:ptCount val="1"/>
                <c:pt idx="0">
                  <c:v>AUROC gain from the twin</c:v>
                </c:pt>
              </c:strCache>
            </c:strRef>
          </c:tx>
          <c:spPr>
            <a:solidFill>
              <a:srgbClr val="1BAF7A"/>
            </a:solidFill>
            <a:effectLst/>
          </c:spPr>
          <c:invertIfNegative val="0"/>
          <c:dLbls>
            <c:numFmt formatCode="+0.000;-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5 pts</c:v>
                  </c:pt>
                  <c:pt idx="1">
                    <c:v>10 pts</c:v>
                  </c:pt>
                  <c:pt idx="2">
                    <c:v>20 pts</c:v>
                  </c:pt>
                  <c:pt idx="3">
                    <c:v>40 pts</c:v>
                  </c:pt>
                  <c:pt idx="4">
                    <c:v>80 pts</c:v>
                  </c:pt>
                </c:lvl>
              </c:multiLvlStrCache>
            </c:multiLvlStrRef>
          </c:cat>
          <c:val>
            <c:numRef>
              <c:f>Sheet1!$B$2:$B$6</c:f>
              <c:numCache>
                <c:formatCode>General</c:formatCode>
                <c:ptCount val="5"/>
                <c:pt idx="0">
                  <c:v>0.0087</c:v>
                </c:pt>
                <c:pt idx="1">
                  <c:v>0.0053</c:v>
                </c:pt>
                <c:pt idx="2">
                  <c:v>0.0032</c:v>
                </c:pt>
                <c:pt idx="3">
                  <c:v>0.0012</c:v>
                </c:pt>
                <c:pt idx="4">
                  <c:v>0.0012</c:v>
                </c:pt>
              </c:numCache>
            </c:numRef>
          </c:val>
        </c:ser>
        <c:dLbls>
          <c:numFmt formatCode="+0.000;-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8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F8B8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presenting MadhuTwin: a digital twin for people with type 2 diabetes in India. It predicts a glucose spike two hours before it happens, explains why, and lets the doctor test what would prevent it, all on a virtual replica of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one hundred and one million adults with diabetes, and another one hundred and thirty six million with prediabetes. Yet care is still driven by an HbA1c every three months, an average that hides the daily spikes after high carbohydrate meals. Doctors get no early warning, and no way to test a lifestyle change for a specific patient before recommending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type 2 diabetes and one precise adverse event: a glucose excursion above 180 milligrams per decilitre lasting at least fifteen minutes, predicted two hours ahead. The system fuses the static health record with wearable streams through a physiology twin and a machine learning layer, and presents everything in a doctor's console. We chose a hybrid design because a pure predictor can't answer what-if questions, and a pure physiology model struggles with messy real-life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real patient data is restricted under the DPDP Act and HIPAA, we built three hundred synthetic patients modelled on Indian diets and routines. Health records follow the Synthea schema with standard medical codes. The wearable streams come from a physiology simulator of Indian free-living days: regional meals, late dinners, sugary chai, festivals, stress, poor sleep, illness and missed medicine. Crucially, each virtual patient has a hidden true physiology, which lets us check whether our twin really learned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Data sources on the left are harmonised onto a five-minute grid. Layer one, the twin core, personalises a glucose-insulin model for each patient, keeps estimating hidden states like carbohydrate still in the gut, and projects two hours ahead. Layer two, the AI, fuses about a hundred features for a LightGBM risk model and glucose forecasts, with SHAP explanations. Everything feeds the doctor's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system is the physiology twin. From the lab report and the first week of CGM, it fits each patient's insulin sensitivity, beta-cell response, basal glucose and dawn rise. This is where fusing the two data streams clearly pays off: CGM alone cannot tell insulin resistance apart from weak insulin secretion, and labs alone are noisy, but together the twin recovers insulin sensitivity with a rank correlation of about zero point seven eight against the hidden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a digital twin rather than another risk model? An ordinary model shares one set of weights across everyone and can only say whether glucose will go high. MadhuTwin keeps a personal physiology for each patient, starts from their health record on day one, keeps a live state vector updated every five minutes, re-personalises every night, and can simulate what would happen if they changed something. The health record enters as a prior on the twin's physiology, and the wearables drive its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forty five patients the model never saw, the risk model reaches an AUROC of 0.91. At the default threshold it flags 75% of glucose spikes at least thirty minutes in advance, with a median warning of about 75 minutes, at around two to three false alerts per patient per day. The chart shows a synthetic held-out day: the risk rises before each meal-related spike. We chose the threshold on validation patients and debounce alerts, because we optimise for useful alerts, not maximum sensitivity. The model also estimates when the spike will start, to within about 17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ran a retrospective check on 265 adults from two open cohorts, with CGM and lab records only. We re-trained the pipeline there with patient-level cross-validation. For a 140 milligram event, the CGM-only model reached an AUROC of 0.81 and the CGM plus EHR model 0.79. Only ten participants have type two diabetes, so this is a check of the method, not validation of the full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Forecasts are scored on the Clarke error grid, the standard for glucose prediction. Prediction bands are conformally calibrated, and we report the coverage we actually observed rather than a guarantee. Every headline number has a patient-level confidence interval, and an exploratory subgroup check shows similar performance across sex, age, weight, medication 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an honest ablation. Time of day alone is surprisingly strong, because meals are habitual. Wearables lift AUROC to about zero point nine one. Adding the health record barely moves the two-hour alarm once a week of CGM exists: the patient's own glucose history already says it. The health record earns its place elsewhere: it is what lets the twin separate insulin resistance from secretion, and that is what the what-if simulator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should ask what the twin really adds, so we measured it. With all two hundred and ten training patients, adding twin features to the same model changes AUROC by less than a thousandth, within noise, and we say so. But with only five or ten training patients, as in a new clinic, the twin adds clearly more. It also recovers each patient's physiology far better than CGM alone, gets sharper day by day, tracks illness night by night, and answers what-if questions that a pure prediction model cannot answer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a pure predictor cannot do. We asked the twin what happens if a patient walks after lunch, swaps rice for foxtail millet, or eats a smaller portion, then re-ran the same change on the hidden true patient. The personalised twin predicts each person's benefit with a correlation of about zero point nine for the food changes, better than an EHR-only or population model. This is a synthetic benchmark: when we changed the simulator's physics, the twin still ranked who benefits but over-estimated some effect sizes, so we show these as estimates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also mentions flagging an anomaly from a week of sleep and heart rate data. For diabetes, the most useful one is a sick day. Each morning the twin compares last night's heart rate, HRV and sleep with the patient's own previous week. It flags hidden illness days well without any labelled training data, and flagged days really do run hotter, so the doctor can trigger sick-day rules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doctor's console, built around five questions. Who needs attention: patients are ranked by risk, severity, confidence and time to event. When: the hero card says when the spike is likely and how high. Why: reasons in plain words with their share. What to do: one suggested action. And what if I intervene: the twin re-simulates the action and shows the new peak, time above range and event probability. Below, the twin state is compared with the patient's own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MadhuTwin is a research prototype designed with a deployment pathway. Patients get one clear nudge before their usual meal, in English or Hindi. The twin produces sample FHIR R4 output, and integration with India's digital health mission is a proposed next step. A REST API and Docker image serve the model and the console, and automated tests run on every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alert comes with its reasons. The strongest drivers are the patient's own history at that time of day, heart rate relative to baseline, the time of day, and the twin's projected peak including their usual next meal. We used only synthetic and open de-identified data, the outputs are sample FHIR resources, and we are explicit about limits: the open-cohort check covers CGM and labs only, and twin fidelity on simulated patients is an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would validate on an Indian cohort that also has meals and wearables, re-personalise the twin nightly, and add hypoglycaemia risk. Then connect to ABDM health records and phone health platforms, with nudges in Indian languages, and run a prospective clinic pilot. The goal is to turn CGM from a retrospective report into a proactive, personalised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code, data generation, models, the console and documentation are in our public GitHub repository, and everything rebuilds with one command: python run.py.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2A"/>
        </a:solidFill>
      </p:bgPr>
    </p:bg>
    <p:spTree>
      <p:nvGrpSpPr>
        <p:cNvPr id="1" name=""/>
        <p:cNvGrpSpPr/>
        <p:nvPr/>
      </p:nvGrpSpPr>
      <p:grpSpPr>
        <a:xfrm>
          <a:off x="0" y="0"/>
          <a:ext cx="0" cy="0"/>
          <a:chOff x="0" y="0"/>
          <a:chExt cx="0" cy="0"/>
        </a:xfrm>
      </p:grpSpPr>
      <p:sp>
        <p:nvSpPr>
          <p:cNvPr id="2" name="Shape 0"/>
          <p:cNvSpPr/>
          <p:nvPr/>
        </p:nvSpPr>
        <p:spPr>
          <a:xfrm>
            <a:off x="548640" y="640080"/>
            <a:ext cx="502920" cy="502920"/>
          </a:xfrm>
          <a:prstGeom prst="ellipse">
            <a:avLst/>
          </a:prstGeom>
          <a:solidFill>
            <a:srgbClr val="C9820A"/>
          </a:solidFill>
          <a:ln w="19050">
            <a:solidFill>
              <a:srgbClr val="F3C35B"/>
            </a:solidFill>
            <a:prstDash val="solid"/>
          </a:ln>
        </p:spPr>
      </p:sp>
      <p:sp>
        <p:nvSpPr>
          <p:cNvPr id="3" name="Text 1"/>
          <p:cNvSpPr txBox="1"/>
          <p:nvPr/>
        </p:nvSpPr>
        <p:spPr>
          <a:xfrm>
            <a:off x="548640" y="1554480"/>
            <a:ext cx="109728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MadhuTwin</a:t>
            </a:r>
            <a:endParaRPr lang="en-US" sz="6000" dirty="0"/>
          </a:p>
        </p:txBody>
      </p:sp>
      <p:sp>
        <p:nvSpPr>
          <p:cNvPr id="4" name="Text 2"/>
          <p:cNvSpPr txBox="1"/>
          <p:nvPr/>
        </p:nvSpPr>
        <p:spPr>
          <a:xfrm>
            <a:off x="548640" y="2697480"/>
            <a:ext cx="9692640" cy="1005840"/>
          </a:xfrm>
          <a:prstGeom prst="rect">
            <a:avLst/>
          </a:prstGeom>
          <a:noFill/>
          <a:ln/>
        </p:spPr>
        <p:txBody>
          <a:bodyPr wrap="square" lIns="0" tIns="0" rIns="0" bIns="0" rtlCol="0" anchor="ctr"/>
          <a:lstStyle/>
          <a:p>
            <a:pPr indent="0" marL="0">
              <a:buNone/>
            </a:pPr>
            <a:r>
              <a:rPr lang="en-US" sz="2200" dirty="0">
                <a:solidFill>
                  <a:srgbClr val="D6DEDF"/>
                </a:solidFill>
                <a:latin typeface="Calibri" pitchFamily="34" charset="0"/>
                <a:ea typeface="Calibri" pitchFamily="34" charset="-122"/>
                <a:cs typeface="Calibri" pitchFamily="34" charset="-120"/>
              </a:rPr>
              <a:t>A digital twin for Type 2 Diabetes in India that warns the doctor about a glucose spike two hours before it happens, and shows what would prevent it.</a:t>
            </a:r>
            <a:endParaRPr lang="en-US" sz="2200" dirty="0"/>
          </a:p>
        </p:txBody>
      </p:sp>
      <p:sp>
        <p:nvSpPr>
          <p:cNvPr id="5" name="Text 3"/>
          <p:cNvSpPr txBox="1"/>
          <p:nvPr/>
        </p:nvSpPr>
        <p:spPr>
          <a:xfrm>
            <a:off x="548640" y="3840480"/>
            <a:ext cx="10058400" cy="365760"/>
          </a:xfrm>
          <a:prstGeom prst="rect">
            <a:avLst/>
          </a:prstGeom>
          <a:noFill/>
          <a:ln/>
        </p:spPr>
        <p:txBody>
          <a:bodyPr wrap="square" lIns="0" tIns="0" rIns="0" bIns="0" rtlCol="0" anchor="ctr"/>
          <a:lstStyle/>
          <a:p>
            <a:pPr indent="0" marL="0">
              <a:buNone/>
            </a:pPr>
            <a:r>
              <a:rPr lang="en-US" sz="1400" b="1" dirty="0">
                <a:solidFill>
                  <a:srgbClr val="E3A54A"/>
                </a:solidFill>
                <a:latin typeface="Calibri" pitchFamily="34" charset="0"/>
                <a:ea typeface="Calibri" pitchFamily="34" charset="-122"/>
                <a:cs typeface="Calibri" pitchFamily="34" charset="-120"/>
              </a:rPr>
              <a:t>Madhu</a:t>
            </a:r>
            <a:pPr indent="0" marL="0">
              <a:buNone/>
            </a:pPr>
            <a:r>
              <a:rPr lang="en-US" sz="1400" dirty="0">
                <a:solidFill>
                  <a:srgbClr val="9FB0B3"/>
                </a:solidFill>
                <a:latin typeface="Calibri" pitchFamily="34" charset="0"/>
                <a:ea typeface="Calibri" pitchFamily="34" charset="-122"/>
                <a:cs typeface="Calibri" pitchFamily="34" charset="-120"/>
              </a:rPr>
              <a:t> (मधु) = honey; madhumeha is the Ayurvedic name for diabetes.</a:t>
            </a:r>
            <a:endParaRPr lang="en-US" sz="1400" dirty="0"/>
          </a:p>
        </p:txBody>
      </p:sp>
      <p:sp>
        <p:nvSpPr>
          <p:cNvPr id="6" name="Text 4"/>
          <p:cNvSpPr txBox="1"/>
          <p:nvPr/>
        </p:nvSpPr>
        <p:spPr>
          <a:xfrm>
            <a:off x="548640" y="5120640"/>
            <a:ext cx="10058400" cy="914400"/>
          </a:xfrm>
          <a:prstGeom prst="rect">
            <a:avLst/>
          </a:prstGeom>
          <a:noFill/>
          <a:ln/>
        </p:spPr>
        <p:txBody>
          <a:bodyPr wrap="square" lIns="0" tIns="0" rIns="0" bIns="0" rtlCol="0" anchor="ctr"/>
          <a:lstStyle/>
          <a:p>
            <a:pPr indent="0" marL="0">
              <a:buNone/>
            </a:pPr>
            <a:r>
              <a:rPr lang="en-US" sz="1400" b="1" dirty="0">
                <a:solidFill>
                  <a:srgbClr val="B3BFC1"/>
                </a:solidFill>
                <a:latin typeface="Calibri" pitchFamily="34" charset="0"/>
                <a:ea typeface="Calibri" pitchFamily="34" charset="-122"/>
                <a:cs typeface="Calibri" pitchFamily="34" charset="-120"/>
              </a:rPr>
              <a:t>Team Vantage</a:t>
            </a:r>
            <a:endParaRPr lang="en-US" sz="1400" dirty="0"/>
          </a:p>
          <a:p>
            <a:pPr indent="0" marL="0">
              <a:buNone/>
            </a:pPr>
            <a:r>
              <a:rPr lang="en-US" sz="1400" dirty="0">
                <a:solidFill>
                  <a:srgbClr val="B3BFC1"/>
                </a:solidFill>
                <a:latin typeface="Calibri" pitchFamily="34" charset="0"/>
                <a:ea typeface="Calibri" pitchFamily="34" charset="-122"/>
                <a:cs typeface="Calibri" pitchFamily="34" charset="-120"/>
              </a:rPr>
              <a:t>Management Development Institute, Gurgaon</a:t>
            </a:r>
            <a:endParaRPr lang="en-US" sz="1400" dirty="0"/>
          </a:p>
          <a:p>
            <a:pPr indent="0" marL="0">
              <a:buNone/>
            </a:pPr>
            <a:r>
              <a:rPr lang="en-US" sz="1400" dirty="0">
                <a:solidFill>
                  <a:srgbClr val="B3BFC1"/>
                </a:solidFill>
                <a:latin typeface="Calibri" pitchFamily="34" charset="0"/>
                <a:ea typeface="Calibri" pitchFamily="34" charset="-122"/>
                <a:cs typeface="Calibri" pitchFamily="34" charset="-120"/>
              </a:rPr>
              <a:t>Happiest Health Digital Twin Challenge 2026 · Phase 1 submission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India has 101 million people with diabetes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and their glucose is managed in 3-monthly snapshots, not in the hours when it actually goes wrong</a:t>
            </a:r>
            <a:endParaRPr lang="en-US" sz="1600" dirty="0"/>
          </a:p>
        </p:txBody>
      </p:sp>
      <p:sp>
        <p:nvSpPr>
          <p:cNvPr id="4" name="Shape 2"/>
          <p:cNvSpPr/>
          <p:nvPr/>
        </p:nvSpPr>
        <p:spPr>
          <a:xfrm>
            <a:off x="548640" y="1737360"/>
            <a:ext cx="2743200" cy="1234440"/>
          </a:xfrm>
          <a:prstGeom prst="roundRect">
            <a:avLst>
              <a:gd name="adj" fmla="val 5926"/>
            </a:avLst>
          </a:prstGeom>
          <a:solidFill>
            <a:srgbClr val="FFFFFF"/>
          </a:solidFill>
          <a:ln w="12700">
            <a:solidFill>
              <a:srgbClr val="E1E4DE"/>
            </a:solidFill>
            <a:prstDash val="solid"/>
          </a:ln>
        </p:spPr>
      </p:sp>
      <p:sp>
        <p:nvSpPr>
          <p:cNvPr id="5" name="Text 3"/>
          <p:cNvSpPr txBox="1"/>
          <p:nvPr/>
        </p:nvSpPr>
        <p:spPr>
          <a:xfrm>
            <a:off x="731520" y="1847088"/>
            <a:ext cx="237744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101 M</a:t>
            </a:r>
            <a:endParaRPr lang="en-US" sz="3200" dirty="0"/>
          </a:p>
        </p:txBody>
      </p:sp>
      <p:sp>
        <p:nvSpPr>
          <p:cNvPr id="6" name="Text 4"/>
          <p:cNvSpPr txBox="1"/>
          <p:nvPr/>
        </p:nvSpPr>
        <p:spPr>
          <a:xfrm>
            <a:off x="731520" y="2468880"/>
            <a:ext cx="237744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adults with diabetes (11.4%)</a:t>
            </a:r>
            <a:endParaRPr lang="en-US" sz="1200" dirty="0"/>
          </a:p>
        </p:txBody>
      </p:sp>
      <p:sp>
        <p:nvSpPr>
          <p:cNvPr id="7" name="Shape 5"/>
          <p:cNvSpPr/>
          <p:nvPr/>
        </p:nvSpPr>
        <p:spPr>
          <a:xfrm>
            <a:off x="3474720" y="1737360"/>
            <a:ext cx="2743200" cy="1234440"/>
          </a:xfrm>
          <a:prstGeom prst="roundRect">
            <a:avLst>
              <a:gd name="adj" fmla="val 5926"/>
            </a:avLst>
          </a:prstGeom>
          <a:solidFill>
            <a:srgbClr val="FFFFFF"/>
          </a:solidFill>
          <a:ln w="12700">
            <a:solidFill>
              <a:srgbClr val="E1E4DE"/>
            </a:solidFill>
            <a:prstDash val="solid"/>
          </a:ln>
        </p:spPr>
      </p:sp>
      <p:sp>
        <p:nvSpPr>
          <p:cNvPr id="8" name="Text 6"/>
          <p:cNvSpPr txBox="1"/>
          <p:nvPr/>
        </p:nvSpPr>
        <p:spPr>
          <a:xfrm>
            <a:off x="3657600" y="1847088"/>
            <a:ext cx="237744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136 M</a:t>
            </a:r>
            <a:endParaRPr lang="en-US" sz="3200" dirty="0"/>
          </a:p>
        </p:txBody>
      </p:sp>
      <p:sp>
        <p:nvSpPr>
          <p:cNvPr id="9" name="Text 7"/>
          <p:cNvSpPr txBox="1"/>
          <p:nvPr/>
        </p:nvSpPr>
        <p:spPr>
          <a:xfrm>
            <a:off x="3657600" y="2468880"/>
            <a:ext cx="237744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more with prediabetes</a:t>
            </a:r>
            <a:endParaRPr lang="en-US" sz="1200" dirty="0"/>
          </a:p>
        </p:txBody>
      </p:sp>
      <p:sp>
        <p:nvSpPr>
          <p:cNvPr id="10" name="Shape 8"/>
          <p:cNvSpPr/>
          <p:nvPr/>
        </p:nvSpPr>
        <p:spPr>
          <a:xfrm>
            <a:off x="6400800" y="1737360"/>
            <a:ext cx="5212080" cy="1234440"/>
          </a:xfrm>
          <a:prstGeom prst="roundRect">
            <a:avLst>
              <a:gd name="adj" fmla="val 5926"/>
            </a:avLst>
          </a:prstGeom>
          <a:solidFill>
            <a:srgbClr val="FFFFFF"/>
          </a:solidFill>
          <a:ln w="12700">
            <a:solidFill>
              <a:srgbClr val="E1E4DE"/>
            </a:solidFill>
            <a:prstDash val="solid"/>
          </a:ln>
        </p:spPr>
      </p:sp>
      <p:sp>
        <p:nvSpPr>
          <p:cNvPr id="11" name="Text 9"/>
          <p:cNvSpPr txBox="1"/>
          <p:nvPr/>
        </p:nvSpPr>
        <p:spPr>
          <a:xfrm>
            <a:off x="6583680" y="1847088"/>
            <a:ext cx="4846320" cy="640080"/>
          </a:xfrm>
          <a:prstGeom prst="rect">
            <a:avLst/>
          </a:prstGeom>
          <a:noFill/>
          <a:ln/>
        </p:spPr>
        <p:txBody>
          <a:bodyPr wrap="square" lIns="0" tIns="0" rIns="0" bIns="0" rtlCol="0" anchor="ctr"/>
          <a:lstStyle/>
          <a:p>
            <a:pPr indent="0" marL="0">
              <a:buNone/>
            </a:pPr>
            <a:r>
              <a:rPr lang="en-US" sz="3200" b="1" dirty="0">
                <a:solidFill>
                  <a:srgbClr val="C9820A"/>
                </a:solidFill>
                <a:latin typeface="Cambria" pitchFamily="34" charset="0"/>
                <a:ea typeface="Cambria" pitchFamily="34" charset="-122"/>
                <a:cs typeface="Cambria" pitchFamily="34" charset="-120"/>
              </a:rPr>
              <a:t>~70 g+</a:t>
            </a:r>
            <a:endParaRPr lang="en-US" sz="3200" dirty="0"/>
          </a:p>
        </p:txBody>
      </p:sp>
      <p:sp>
        <p:nvSpPr>
          <p:cNvPr id="12" name="Text 10"/>
          <p:cNvSpPr txBox="1"/>
          <p:nvPr/>
        </p:nvSpPr>
        <p:spPr>
          <a:xfrm>
            <a:off x="6583680" y="2468880"/>
            <a:ext cx="484632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carbs in a typical Indian lunch; rice, roti and sweet chai drive steep post-meal spikes</a:t>
            </a:r>
            <a:endParaRPr lang="en-US" sz="1200" dirty="0"/>
          </a:p>
        </p:txBody>
      </p:sp>
      <p:sp>
        <p:nvSpPr>
          <p:cNvPr id="13" name="Shape 11"/>
          <p:cNvSpPr/>
          <p:nvPr/>
        </p:nvSpPr>
        <p:spPr>
          <a:xfrm>
            <a:off x="548640" y="3246120"/>
            <a:ext cx="5486400" cy="2834640"/>
          </a:xfrm>
          <a:prstGeom prst="roundRect">
            <a:avLst>
              <a:gd name="adj" fmla="val 2581"/>
            </a:avLst>
          </a:prstGeom>
          <a:solidFill>
            <a:srgbClr val="FFFFFF"/>
          </a:solidFill>
          <a:ln w="12700">
            <a:solidFill>
              <a:srgbClr val="E1E4DE"/>
            </a:solidFill>
            <a:prstDash val="solid"/>
          </a:ln>
        </p:spPr>
      </p:sp>
      <p:sp>
        <p:nvSpPr>
          <p:cNvPr id="14" name="Text 12"/>
          <p:cNvSpPr txBox="1"/>
          <p:nvPr/>
        </p:nvSpPr>
        <p:spPr>
          <a:xfrm>
            <a:off x="749808" y="3392424"/>
            <a:ext cx="508406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What a doctor sees today</a:t>
            </a:r>
            <a:endParaRPr lang="en-US" sz="1600" dirty="0"/>
          </a:p>
        </p:txBody>
      </p:sp>
      <p:sp>
        <p:nvSpPr>
          <p:cNvPr id="15" name="Text 13"/>
          <p:cNvSpPr txBox="1"/>
          <p:nvPr/>
        </p:nvSpPr>
        <p:spPr>
          <a:xfrm>
            <a:off x="749808" y="3794760"/>
            <a:ext cx="5084064"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An HbA1c every 3 months: an average that hides daily spikes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 CGM report after the fact, if the patient has a sensor</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Generic diet advice that ignores how this person responds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No early warning and no way to test a change before prescribing it</a:t>
            </a:r>
            <a:endParaRPr lang="en-US" sz="1400" dirty="0"/>
          </a:p>
        </p:txBody>
      </p:sp>
      <p:sp>
        <p:nvSpPr>
          <p:cNvPr id="16" name="Shape 14"/>
          <p:cNvSpPr/>
          <p:nvPr/>
        </p:nvSpPr>
        <p:spPr>
          <a:xfrm>
            <a:off x="6217920" y="3246120"/>
            <a:ext cx="5394960" cy="2834640"/>
          </a:xfrm>
          <a:prstGeom prst="roundRect">
            <a:avLst>
              <a:gd name="adj" fmla="val 2581"/>
            </a:avLst>
          </a:prstGeom>
          <a:solidFill>
            <a:srgbClr val="E1F5EC"/>
          </a:solidFill>
          <a:ln w="12700">
            <a:solidFill>
              <a:srgbClr val="E1E4DE"/>
            </a:solidFill>
            <a:prstDash val="solid"/>
          </a:ln>
        </p:spPr>
      </p:sp>
      <p:sp>
        <p:nvSpPr>
          <p:cNvPr id="17" name="Text 15"/>
          <p:cNvSpPr txBox="1"/>
          <p:nvPr/>
        </p:nvSpPr>
        <p:spPr>
          <a:xfrm>
            <a:off x="6419088" y="3392424"/>
            <a:ext cx="49926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What MadhuTwin adds</a:t>
            </a:r>
            <a:endParaRPr lang="en-US" sz="1600" dirty="0"/>
          </a:p>
        </p:txBody>
      </p:sp>
      <p:sp>
        <p:nvSpPr>
          <p:cNvPr id="18" name="Text 16"/>
          <p:cNvSpPr txBox="1"/>
          <p:nvPr/>
        </p:nvSpPr>
        <p:spPr>
          <a:xfrm>
            <a:off x="6419088" y="3794760"/>
            <a:ext cx="4992624"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 virtual replica of each patient, updated every 5 minutes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 2-hour warning before glucose crosses 180 mg/dL</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Plain-language reasons: meal habit, sleep, stress, activity</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 what-if simulator: rice → millet, smaller portion, walk after eating</a:t>
            </a:r>
            <a:endParaRPr lang="en-US" sz="1400" dirty="0"/>
          </a:p>
        </p:txBody>
      </p:sp>
      <p:sp>
        <p:nvSpPr>
          <p:cNvPr id="19" name="Text 17"/>
          <p:cNvSpPr txBox="1"/>
          <p:nvPr/>
        </p:nvSpPr>
        <p:spPr>
          <a:xfrm>
            <a:off x="548640" y="6172200"/>
            <a:ext cx="73152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Source: ICMR-INDIAB-17, Lancet Diabetes &amp; Endocrinology, 2023.</a:t>
            </a:r>
            <a:endParaRPr lang="en-US" sz="1000" dirty="0"/>
          </a:p>
        </p:txBody>
      </p:sp>
      <p:sp>
        <p:nvSpPr>
          <p:cNvPr id="20" name="Text 1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21" name="Text 19"/>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Use case: predict post-meal spikes 2 hours ahead</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Condition: Type 2 Diabetes · Adverse event: an excursion ≥180 mg/dL lasting ≥15 minutes (International Consensus on Time in Range)</a:t>
            </a:r>
            <a:endParaRPr lang="en-US" sz="1600" dirty="0"/>
          </a:p>
        </p:txBody>
      </p:sp>
      <p:sp>
        <p:nvSpPr>
          <p:cNvPr id="4" name="Shape 2"/>
          <p:cNvSpPr/>
          <p:nvPr/>
        </p:nvSpPr>
        <p:spPr>
          <a:xfrm>
            <a:off x="548640" y="1920240"/>
            <a:ext cx="2103120" cy="2377440"/>
          </a:xfrm>
          <a:prstGeom prst="roundRect">
            <a:avLst>
              <a:gd name="adj" fmla="val 4348"/>
            </a:avLst>
          </a:prstGeom>
          <a:solidFill>
            <a:srgbClr val="F5E9D2"/>
          </a:solidFill>
          <a:ln w="12700">
            <a:solidFill>
              <a:srgbClr val="E1E4DE"/>
            </a:solidFill>
            <a:prstDash val="solid"/>
          </a:ln>
        </p:spPr>
      </p:sp>
      <p:sp>
        <p:nvSpPr>
          <p:cNvPr id="5" name="Text 3"/>
          <p:cNvSpPr txBox="1"/>
          <p:nvPr/>
        </p:nvSpPr>
        <p:spPr>
          <a:xfrm>
            <a:off x="713232" y="2057400"/>
            <a:ext cx="1783080" cy="45720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Static EHR</a:t>
            </a:r>
            <a:endParaRPr lang="en-US" sz="1600" dirty="0"/>
          </a:p>
        </p:txBody>
      </p:sp>
      <p:sp>
        <p:nvSpPr>
          <p:cNvPr id="6" name="Text 4"/>
          <p:cNvSpPr txBox="1"/>
          <p:nvPr/>
        </p:nvSpPr>
        <p:spPr>
          <a:xfrm>
            <a:off x="713232" y="2560320"/>
            <a:ext cx="1783080" cy="164592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Demographics, diagnoses, meds, labs (HbA1c, HOMA-IR, HOMA-B, eGFR), 12-month trends</a:t>
            </a:r>
            <a:endParaRPr lang="en-US" sz="1250" dirty="0"/>
          </a:p>
        </p:txBody>
      </p:sp>
      <p:sp>
        <p:nvSpPr>
          <p:cNvPr id="7" name="Text 5"/>
          <p:cNvSpPr txBox="1"/>
          <p:nvPr/>
        </p:nvSpPr>
        <p:spPr>
          <a:xfrm>
            <a:off x="2633472" y="2834640"/>
            <a:ext cx="219456" cy="457200"/>
          </a:xfrm>
          <a:prstGeom prst="rect">
            <a:avLst/>
          </a:prstGeom>
          <a:noFill/>
          <a:ln/>
        </p:spPr>
        <p:txBody>
          <a:bodyPr wrap="square" lIns="0" tIns="0" rIns="0" bIns="0" rtlCol="0" anchor="ctr"/>
          <a:lstStyle/>
          <a:p>
            <a:pPr algn="ctr" indent="0" marL="0">
              <a:buNone/>
            </a:pPr>
            <a:r>
              <a:rPr lang="en-US" sz="2000" dirty="0">
                <a:solidFill>
                  <a:srgbClr val="7F8B8F"/>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34640" y="1920240"/>
            <a:ext cx="2103120" cy="2377440"/>
          </a:xfrm>
          <a:prstGeom prst="roundRect">
            <a:avLst>
              <a:gd name="adj" fmla="val 4348"/>
            </a:avLst>
          </a:prstGeom>
          <a:solidFill>
            <a:srgbClr val="E3EEFB"/>
          </a:solidFill>
          <a:ln w="12700">
            <a:solidFill>
              <a:srgbClr val="E1E4DE"/>
            </a:solidFill>
            <a:prstDash val="solid"/>
          </a:ln>
        </p:spPr>
      </p:sp>
      <p:sp>
        <p:nvSpPr>
          <p:cNvPr id="9" name="Text 7"/>
          <p:cNvSpPr txBox="1"/>
          <p:nvPr/>
        </p:nvSpPr>
        <p:spPr>
          <a:xfrm>
            <a:off x="2999232" y="2057400"/>
            <a:ext cx="1783080" cy="45720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Wearables</a:t>
            </a:r>
            <a:endParaRPr lang="en-US" sz="1600" dirty="0"/>
          </a:p>
        </p:txBody>
      </p:sp>
      <p:sp>
        <p:nvSpPr>
          <p:cNvPr id="10" name="Text 8"/>
          <p:cNvSpPr txBox="1"/>
          <p:nvPr/>
        </p:nvSpPr>
        <p:spPr>
          <a:xfrm>
            <a:off x="2999232" y="2560320"/>
            <a:ext cx="1783080" cy="164592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CGM every 5 min, heart rate, HRV, steps, sleep stages, food log</a:t>
            </a:r>
            <a:endParaRPr lang="en-US" sz="1250" dirty="0"/>
          </a:p>
        </p:txBody>
      </p:sp>
      <p:sp>
        <p:nvSpPr>
          <p:cNvPr id="11" name="Text 9"/>
          <p:cNvSpPr txBox="1"/>
          <p:nvPr/>
        </p:nvSpPr>
        <p:spPr>
          <a:xfrm>
            <a:off x="4919472" y="2834640"/>
            <a:ext cx="219456" cy="457200"/>
          </a:xfrm>
          <a:prstGeom prst="rect">
            <a:avLst/>
          </a:prstGeom>
          <a:noFill/>
          <a:ln/>
        </p:spPr>
        <p:txBody>
          <a:bodyPr wrap="square" lIns="0" tIns="0" rIns="0" bIns="0" rtlCol="0" anchor="ctr"/>
          <a:lstStyle/>
          <a:p>
            <a:pPr algn="ctr" indent="0" marL="0">
              <a:buNone/>
            </a:pPr>
            <a:r>
              <a:rPr lang="en-US" sz="2000" dirty="0">
                <a:solidFill>
                  <a:srgbClr val="7F8B8F"/>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120640" y="1920240"/>
            <a:ext cx="2103120" cy="2377440"/>
          </a:xfrm>
          <a:prstGeom prst="roundRect">
            <a:avLst>
              <a:gd name="adj" fmla="val 4348"/>
            </a:avLst>
          </a:prstGeom>
          <a:solidFill>
            <a:srgbClr val="E1F5EC"/>
          </a:solidFill>
          <a:ln w="12700">
            <a:solidFill>
              <a:srgbClr val="E1E4DE"/>
            </a:solidFill>
            <a:prstDash val="solid"/>
          </a:ln>
        </p:spPr>
      </p:sp>
      <p:sp>
        <p:nvSpPr>
          <p:cNvPr id="13" name="Text 11"/>
          <p:cNvSpPr txBox="1"/>
          <p:nvPr/>
        </p:nvSpPr>
        <p:spPr>
          <a:xfrm>
            <a:off x="5285232" y="2057400"/>
            <a:ext cx="1783080" cy="45720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Layer 1 · Twin</a:t>
            </a:r>
            <a:endParaRPr lang="en-US" sz="1600" dirty="0"/>
          </a:p>
        </p:txBody>
      </p:sp>
      <p:sp>
        <p:nvSpPr>
          <p:cNvPr id="14" name="Text 12"/>
          <p:cNvSpPr txBox="1"/>
          <p:nvPr/>
        </p:nvSpPr>
        <p:spPr>
          <a:xfrm>
            <a:off x="5285232" y="2560320"/>
            <a:ext cx="1783080" cy="164592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Personal insulin sensitivity, beta-cell response, basal glucose; hidden state every 5 min; 2-h projection</a:t>
            </a:r>
            <a:endParaRPr lang="en-US" sz="1250" dirty="0"/>
          </a:p>
        </p:txBody>
      </p:sp>
      <p:sp>
        <p:nvSpPr>
          <p:cNvPr id="15" name="Text 13"/>
          <p:cNvSpPr txBox="1"/>
          <p:nvPr/>
        </p:nvSpPr>
        <p:spPr>
          <a:xfrm>
            <a:off x="7205472" y="2834640"/>
            <a:ext cx="219456" cy="457200"/>
          </a:xfrm>
          <a:prstGeom prst="rect">
            <a:avLst/>
          </a:prstGeom>
          <a:noFill/>
          <a:ln/>
        </p:spPr>
        <p:txBody>
          <a:bodyPr wrap="square" lIns="0" tIns="0" rIns="0" bIns="0" rtlCol="0" anchor="ctr"/>
          <a:lstStyle/>
          <a:p>
            <a:pPr algn="ctr" indent="0" marL="0">
              <a:buNone/>
            </a:pPr>
            <a:r>
              <a:rPr lang="en-US" sz="2000" dirty="0">
                <a:solidFill>
                  <a:srgbClr val="7F8B8F"/>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406640" y="1920240"/>
            <a:ext cx="2103120" cy="2377440"/>
          </a:xfrm>
          <a:prstGeom prst="roundRect">
            <a:avLst>
              <a:gd name="adj" fmla="val 4348"/>
            </a:avLst>
          </a:prstGeom>
          <a:solidFill>
            <a:srgbClr val="EBE8F8"/>
          </a:solidFill>
          <a:ln w="12700">
            <a:solidFill>
              <a:srgbClr val="E1E4DE"/>
            </a:solidFill>
            <a:prstDash val="solid"/>
          </a:ln>
        </p:spPr>
      </p:sp>
      <p:sp>
        <p:nvSpPr>
          <p:cNvPr id="17" name="Text 15"/>
          <p:cNvSpPr txBox="1"/>
          <p:nvPr/>
        </p:nvSpPr>
        <p:spPr>
          <a:xfrm>
            <a:off x="7571232" y="2057400"/>
            <a:ext cx="1783080" cy="45720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Layer 2 · AI</a:t>
            </a:r>
            <a:endParaRPr lang="en-US" sz="1600" dirty="0"/>
          </a:p>
        </p:txBody>
      </p:sp>
      <p:sp>
        <p:nvSpPr>
          <p:cNvPr id="18" name="Text 16"/>
          <p:cNvSpPr txBox="1"/>
          <p:nvPr/>
        </p:nvSpPr>
        <p:spPr>
          <a:xfrm>
            <a:off x="7571232" y="2560320"/>
            <a:ext cx="1783080" cy="164592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LightGBM risk ± confidence, time to event, forecasts; reasons in plain words</a:t>
            </a:r>
            <a:endParaRPr lang="en-US" sz="1250" dirty="0"/>
          </a:p>
        </p:txBody>
      </p:sp>
      <p:sp>
        <p:nvSpPr>
          <p:cNvPr id="19" name="Text 17"/>
          <p:cNvSpPr txBox="1"/>
          <p:nvPr/>
        </p:nvSpPr>
        <p:spPr>
          <a:xfrm>
            <a:off x="9491472" y="2834640"/>
            <a:ext cx="219456" cy="457200"/>
          </a:xfrm>
          <a:prstGeom prst="rect">
            <a:avLst/>
          </a:prstGeom>
          <a:noFill/>
          <a:ln/>
        </p:spPr>
        <p:txBody>
          <a:bodyPr wrap="square" lIns="0" tIns="0" rIns="0" bIns="0" rtlCol="0" anchor="ctr"/>
          <a:lstStyle/>
          <a:p>
            <a:pPr algn="ctr" indent="0" marL="0">
              <a:buNone/>
            </a:pPr>
            <a:r>
              <a:rPr lang="en-US" sz="2000" dirty="0">
                <a:solidFill>
                  <a:srgbClr val="7F8B8F"/>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692640" y="1920240"/>
            <a:ext cx="2103120" cy="2377440"/>
          </a:xfrm>
          <a:prstGeom prst="roundRect">
            <a:avLst>
              <a:gd name="adj" fmla="val 4348"/>
            </a:avLst>
          </a:prstGeom>
          <a:solidFill>
            <a:srgbClr val="FDE9E0"/>
          </a:solidFill>
          <a:ln w="12700">
            <a:solidFill>
              <a:srgbClr val="E1E4DE"/>
            </a:solidFill>
            <a:prstDash val="solid"/>
          </a:ln>
        </p:spPr>
      </p:sp>
      <p:sp>
        <p:nvSpPr>
          <p:cNvPr id="21" name="Text 19"/>
          <p:cNvSpPr txBox="1"/>
          <p:nvPr/>
        </p:nvSpPr>
        <p:spPr>
          <a:xfrm>
            <a:off x="9857232" y="2057400"/>
            <a:ext cx="1783080" cy="45720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Doctor console</a:t>
            </a:r>
            <a:endParaRPr lang="en-US" sz="1600" dirty="0"/>
          </a:p>
        </p:txBody>
      </p:sp>
      <p:sp>
        <p:nvSpPr>
          <p:cNvPr id="22" name="Text 20"/>
          <p:cNvSpPr txBox="1"/>
          <p:nvPr/>
        </p:nvSpPr>
        <p:spPr>
          <a:xfrm>
            <a:off x="9857232" y="2560320"/>
            <a:ext cx="1783080" cy="164592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Who → when → why → what to do → what if I intervene?</a:t>
            </a:r>
            <a:endParaRPr lang="en-US" sz="1250" dirty="0"/>
          </a:p>
        </p:txBody>
      </p:sp>
      <p:sp>
        <p:nvSpPr>
          <p:cNvPr id="23" name="Shape 21"/>
          <p:cNvSpPr/>
          <p:nvPr/>
        </p:nvSpPr>
        <p:spPr>
          <a:xfrm>
            <a:off x="548640" y="4572000"/>
            <a:ext cx="11064240" cy="1600200"/>
          </a:xfrm>
          <a:prstGeom prst="roundRect">
            <a:avLst>
              <a:gd name="adj" fmla="val 4571"/>
            </a:avLst>
          </a:prstGeom>
          <a:solidFill>
            <a:srgbClr val="FFFFFF"/>
          </a:solidFill>
          <a:ln w="12700">
            <a:solidFill>
              <a:srgbClr val="E1E4DE"/>
            </a:solidFill>
            <a:prstDash val="solid"/>
          </a:ln>
        </p:spPr>
      </p:sp>
      <p:sp>
        <p:nvSpPr>
          <p:cNvPr id="24" name="Text 22"/>
          <p:cNvSpPr txBox="1"/>
          <p:nvPr/>
        </p:nvSpPr>
        <p:spPr>
          <a:xfrm>
            <a:off x="749808" y="4718304"/>
            <a:ext cx="1066190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Why a hybrid twin, not just a predictor</a:t>
            </a:r>
            <a:endParaRPr lang="en-US" sz="1600" dirty="0"/>
          </a:p>
        </p:txBody>
      </p:sp>
      <p:sp>
        <p:nvSpPr>
          <p:cNvPr id="25" name="Text 23"/>
          <p:cNvSpPr txBox="1"/>
          <p:nvPr/>
        </p:nvSpPr>
        <p:spPr>
          <a:xfrm>
            <a:off x="749808" y="5120640"/>
            <a:ext cx="10661904" cy="91440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A pure ML model can say what will probably happen. A mechanistic twin can also answer what would happen if the patient changed something, and it can be personalised from day 0 using the health record. MadhuTwin uses both: physiology for personalisation and counterfactuals, ML for accuracy on messy real-life data.</a:t>
            </a:r>
            <a:endParaRPr lang="en-US" sz="1400" dirty="0"/>
          </a:p>
        </p:txBody>
      </p:sp>
      <p:sp>
        <p:nvSpPr>
          <p:cNvPr id="26" name="Text 24"/>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27" name="Text 25"/>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Data: 300 India-context synthetic patients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EHRs in the Synthea CSV schema; wearables from a physiology simulator of Indian days · plus a separate retrospective check on 265 adults from open cohorts (USA + Spain)</a:t>
            </a:r>
            <a:endParaRPr lang="en-US" sz="1600" dirty="0"/>
          </a:p>
        </p:txBody>
      </p:sp>
      <p:pic>
        <p:nvPicPr>
          <p:cNvPr id="4" name="Image 0" descr="/home/claude/MadhuTwin/docs/img/fig_cohort.png">    </p:cNvPr>
          <p:cNvPicPr>
            <a:picLocks noChangeAspect="1"/>
          </p:cNvPicPr>
          <p:nvPr/>
        </p:nvPicPr>
        <p:blipFill>
          <a:blip r:embed="rId1"/>
          <a:srcRect l="0" r="0" t="0" b="0"/>
          <a:stretch/>
        </p:blipFill>
        <p:spPr>
          <a:xfrm>
            <a:off x="548640" y="1600200"/>
            <a:ext cx="6766560" cy="2029968"/>
          </a:xfrm>
          <a:prstGeom prst="rect">
            <a:avLst/>
          </a:prstGeom>
        </p:spPr>
      </p:pic>
      <p:sp>
        <p:nvSpPr>
          <p:cNvPr id="5" name="Shape 2"/>
          <p:cNvSpPr/>
          <p:nvPr/>
        </p:nvSpPr>
        <p:spPr>
          <a:xfrm>
            <a:off x="7498080" y="1600200"/>
            <a:ext cx="4114800" cy="4526280"/>
          </a:xfrm>
          <a:prstGeom prst="roundRect">
            <a:avLst>
              <a:gd name="adj" fmla="val 1778"/>
            </a:avLst>
          </a:prstGeom>
          <a:solidFill>
            <a:srgbClr val="FFFFFF"/>
          </a:solidFill>
          <a:ln w="12700">
            <a:solidFill>
              <a:srgbClr val="E1E4DE"/>
            </a:solidFill>
            <a:prstDash val="solid"/>
          </a:ln>
        </p:spPr>
      </p:sp>
      <p:sp>
        <p:nvSpPr>
          <p:cNvPr id="6" name="Text 3"/>
          <p:cNvSpPr txBox="1"/>
          <p:nvPr/>
        </p:nvSpPr>
        <p:spPr>
          <a:xfrm>
            <a:off x="7699248" y="1746504"/>
            <a:ext cx="371246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What makes it realistic</a:t>
            </a:r>
            <a:endParaRPr lang="en-US" sz="1600" dirty="0"/>
          </a:p>
        </p:txBody>
      </p:sp>
      <p:sp>
        <p:nvSpPr>
          <p:cNvPr id="7" name="Text 4"/>
          <p:cNvSpPr txBox="1"/>
          <p:nvPr/>
        </p:nvSpPr>
        <p:spPr>
          <a:xfrm>
            <a:off x="7699248" y="2148840"/>
            <a:ext cx="3712464"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37 regional foods with carbs and GI: idli, poha, rajma chawal, fish-rice, millets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Late dinners, sugary chai (often unlogged), festival thalis, eating out</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Sleep with 90-min cycles, stressful days, illness, missed doses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CGM lag, noise, drift and dropouts; watch off-wrist while charging</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Food log completed only ~56% of the time, carbs under-estimated</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Hidden 'true' physiology kept aside to validate the twin</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6766560" cy="914400"/>
        </p:xfrm>
        <a:graphic>
          <a:graphicData uri="http://schemas.openxmlformats.org/drawingml/2006/table">
            <a:tbl>
              <a:tblPr/>
              <a:tblGrid>
                <a:gridCol w="2377440"/>
                <a:gridCol w="1280160"/>
                <a:gridCol w="3108960"/>
              </a:tblGrid>
              <a:tr h="384048">
                <a:tc>
                  <a:txBody>
                    <a:bodyPr/>
                    <a:lstStyle/>
                    <a:p>
                      <a:pPr indent="0" marL="0">
                        <a:buNone/>
                      </a:pPr>
                      <a:r>
                        <a:rPr lang="en-US" sz="1200" b="1" dirty="0">
                          <a:solidFill>
                            <a:srgbClr val="4C5A60"/>
                          </a:solidFill>
                          <a:latin typeface="Calibri" pitchFamily="34" charset="0"/>
                          <a:ea typeface="Calibri" pitchFamily="34" charset="-122"/>
                          <a:cs typeface="Calibri" pitchFamily="34" charset="-120"/>
                        </a:rPr>
                        <a:t>Stream</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b="1" dirty="0">
                          <a:solidFill>
                            <a:srgbClr val="4C5A60"/>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b="1" dirty="0">
                          <a:solidFill>
                            <a:srgbClr val="4C5A60"/>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CGM glucose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1.77 M readings</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HR · HRV · steps · sleep</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6,048 per patient per signal</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Food log</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15,684 meals</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EHR (Synthea schema)</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00" dirty="0">
                          <a:solidFill>
                            <a:srgbClr val="15222A"/>
                          </a:solidFill>
                          <a:latin typeface="Calibri" pitchFamily="34" charset="0"/>
                          <a:ea typeface="Calibri" pitchFamily="34" charset="-122"/>
                          <a:cs typeface="Calibri" pitchFamily="34" charset="-120"/>
                        </a:rPr>
                        <a:t>labs, SNOMED CT, LOINC, RxNorm</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0"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Architecture</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Layer 1 keeps a live physiological state per patient; Layer 2 predicts from it. Every arrow runs every 5 minutes.</a:t>
            </a:r>
            <a:endParaRPr lang="en-US" sz="1600" dirty="0"/>
          </a:p>
        </p:txBody>
      </p:sp>
      <p:pic>
        <p:nvPicPr>
          <p:cNvPr id="4" name="Image 0" descr="/home/claude/MadhuTwin/docs/img/architecture.png">    </p:cNvPr>
          <p:cNvPicPr>
            <a:picLocks noChangeAspect="1"/>
          </p:cNvPicPr>
          <p:nvPr/>
        </p:nvPicPr>
        <p:blipFill>
          <a:blip r:embed="rId1"/>
          <a:srcRect l="0" r="0" t="0" b="0"/>
          <a:stretch/>
        </p:blipFill>
        <p:spPr>
          <a:xfrm>
            <a:off x="548640" y="1463040"/>
            <a:ext cx="11064240" cy="4892040"/>
          </a:xfrm>
          <a:prstGeom prst="rect">
            <a:avLst/>
          </a:prstGeom>
        </p:spPr>
      </p:pic>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6" name="Text 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The twin learns each patient's physiology</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Personalised from an EHR-informed prior + week-1 CGM (regularised fit), then checked against the simulator's hidden truth</a:t>
            </a:r>
            <a:endParaRPr lang="en-US" sz="1600" dirty="0"/>
          </a:p>
        </p:txBody>
      </p:sp>
      <p:pic>
        <p:nvPicPr>
          <p:cNvPr id="4" name="Image 0" descr="/home/claude/MadhuTwin/docs/img/fig_twin_recovery.png">    </p:cNvPr>
          <p:cNvPicPr>
            <a:picLocks noChangeAspect="1"/>
          </p:cNvPicPr>
          <p:nvPr/>
        </p:nvPicPr>
        <p:blipFill>
          <a:blip r:embed="rId1"/>
          <a:srcRect l="0" r="0" t="0" b="0"/>
          <a:stretch/>
        </p:blipFill>
        <p:spPr>
          <a:xfrm>
            <a:off x="548640" y="1554480"/>
            <a:ext cx="7498080" cy="2926080"/>
          </a:xfrm>
          <a:prstGeom prst="rect">
            <a:avLst/>
          </a:prstGeom>
        </p:spPr>
      </p:pic>
      <p:sp>
        <p:nvSpPr>
          <p:cNvPr id="5" name="Shape 2"/>
          <p:cNvSpPr/>
          <p:nvPr/>
        </p:nvSpPr>
        <p:spPr>
          <a:xfrm>
            <a:off x="8229600" y="1554480"/>
            <a:ext cx="3383280" cy="2926080"/>
          </a:xfrm>
          <a:prstGeom prst="roundRect">
            <a:avLst>
              <a:gd name="adj" fmla="val 2500"/>
            </a:avLst>
          </a:prstGeom>
          <a:solidFill>
            <a:srgbClr val="E1F5EC"/>
          </a:solidFill>
          <a:ln w="12700">
            <a:solidFill>
              <a:srgbClr val="E1E4DE"/>
            </a:solidFill>
            <a:prstDash val="solid"/>
          </a:ln>
        </p:spPr>
      </p:sp>
      <p:sp>
        <p:nvSpPr>
          <p:cNvPr id="6" name="Text 3"/>
          <p:cNvSpPr txBox="1"/>
          <p:nvPr/>
        </p:nvSpPr>
        <p:spPr>
          <a:xfrm>
            <a:off x="8430768" y="1700784"/>
            <a:ext cx="298094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Fusion matters here</a:t>
            </a:r>
            <a:endParaRPr lang="en-US" sz="1600" dirty="0"/>
          </a:p>
        </p:txBody>
      </p:sp>
      <p:sp>
        <p:nvSpPr>
          <p:cNvPr id="7" name="Text 4"/>
          <p:cNvSpPr txBox="1"/>
          <p:nvPr/>
        </p:nvSpPr>
        <p:spPr>
          <a:xfrm>
            <a:off x="8430768" y="2103120"/>
            <a:ext cx="2980944" cy="224028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CGM alone cannot separate insulin resistance from weak insulin secretion (rho 0.13). Labs alone are noisy. Together, the twin recovers insulin sensitivity at rho 0.78 and beta-cell function at 0.66.</a:t>
            </a:r>
            <a:endParaRPr lang="en-US" sz="1400" dirty="0"/>
          </a:p>
        </p:txBody>
      </p:sp>
      <p:sp>
        <p:nvSpPr>
          <p:cNvPr id="8" name="Shape 5"/>
          <p:cNvSpPr/>
          <p:nvPr/>
        </p:nvSpPr>
        <p:spPr>
          <a:xfrm>
            <a:off x="548640" y="4709160"/>
            <a:ext cx="2606040" cy="1417320"/>
          </a:xfrm>
          <a:prstGeom prst="roundRect">
            <a:avLst>
              <a:gd name="adj" fmla="val 5161"/>
            </a:avLst>
          </a:prstGeom>
          <a:solidFill>
            <a:srgbClr val="FFFFFF"/>
          </a:solidFill>
          <a:ln w="12700">
            <a:solidFill>
              <a:srgbClr val="1BAF7A"/>
            </a:solidFill>
            <a:prstDash val="solid"/>
          </a:ln>
        </p:spPr>
      </p:sp>
      <p:sp>
        <p:nvSpPr>
          <p:cNvPr id="9" name="Text 6"/>
          <p:cNvSpPr txBox="1"/>
          <p:nvPr/>
        </p:nvSpPr>
        <p:spPr>
          <a:xfrm>
            <a:off x="713232" y="4818888"/>
            <a:ext cx="2286000" cy="365760"/>
          </a:xfrm>
          <a:prstGeom prst="rect">
            <a:avLst/>
          </a:prstGeom>
          <a:noFill/>
          <a:ln/>
        </p:spPr>
        <p:txBody>
          <a:bodyPr wrap="square" lIns="0" tIns="0" rIns="0" bIns="0" rtlCol="0" anchor="ctr"/>
          <a:lstStyle/>
          <a:p>
            <a:pPr indent="0" marL="0">
              <a:buNone/>
            </a:pPr>
            <a:r>
              <a:rPr lang="en-US" sz="1500" b="1" dirty="0">
                <a:solidFill>
                  <a:srgbClr val="15222A"/>
                </a:solidFill>
                <a:latin typeface="Calibri" pitchFamily="34" charset="0"/>
                <a:ea typeface="Calibri" pitchFamily="34" charset="-122"/>
                <a:cs typeface="Calibri" pitchFamily="34" charset="-120"/>
              </a:rPr>
              <a:t>A · Personalise</a:t>
            </a:r>
            <a:endParaRPr lang="en-US" sz="1500" dirty="0"/>
          </a:p>
        </p:txBody>
      </p:sp>
      <p:sp>
        <p:nvSpPr>
          <p:cNvPr id="10" name="Text 7"/>
          <p:cNvSpPr txBox="1"/>
          <p:nvPr/>
        </p:nvSpPr>
        <p:spPr>
          <a:xfrm>
            <a:off x="713232" y="5212080"/>
            <a:ext cx="2286000" cy="82296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Fit SI, β-cell gain, basal glucose, dawn rise</a:t>
            </a:r>
            <a:endParaRPr lang="en-US" sz="1250" dirty="0"/>
          </a:p>
        </p:txBody>
      </p:sp>
      <p:sp>
        <p:nvSpPr>
          <p:cNvPr id="11" name="Shape 8"/>
          <p:cNvSpPr/>
          <p:nvPr/>
        </p:nvSpPr>
        <p:spPr>
          <a:xfrm>
            <a:off x="3337560" y="4709160"/>
            <a:ext cx="2606040" cy="1417320"/>
          </a:xfrm>
          <a:prstGeom prst="roundRect">
            <a:avLst>
              <a:gd name="adj" fmla="val 5161"/>
            </a:avLst>
          </a:prstGeom>
          <a:solidFill>
            <a:srgbClr val="FFFFFF"/>
          </a:solidFill>
          <a:ln w="12700">
            <a:solidFill>
              <a:srgbClr val="1BAF7A"/>
            </a:solidFill>
            <a:prstDash val="solid"/>
          </a:ln>
        </p:spPr>
      </p:sp>
      <p:sp>
        <p:nvSpPr>
          <p:cNvPr id="12" name="Text 9"/>
          <p:cNvSpPr txBox="1"/>
          <p:nvPr/>
        </p:nvSpPr>
        <p:spPr>
          <a:xfrm>
            <a:off x="3502152" y="4818888"/>
            <a:ext cx="2286000" cy="365760"/>
          </a:xfrm>
          <a:prstGeom prst="rect">
            <a:avLst/>
          </a:prstGeom>
          <a:noFill/>
          <a:ln/>
        </p:spPr>
        <p:txBody>
          <a:bodyPr wrap="square" lIns="0" tIns="0" rIns="0" bIns="0" rtlCol="0" anchor="ctr"/>
          <a:lstStyle/>
          <a:p>
            <a:pPr indent="0" marL="0">
              <a:buNone/>
            </a:pPr>
            <a:r>
              <a:rPr lang="en-US" sz="1500" b="1" dirty="0">
                <a:solidFill>
                  <a:srgbClr val="15222A"/>
                </a:solidFill>
                <a:latin typeface="Calibri" pitchFamily="34" charset="0"/>
                <a:ea typeface="Calibri" pitchFamily="34" charset="-122"/>
                <a:cs typeface="Calibri" pitchFamily="34" charset="-120"/>
              </a:rPr>
              <a:t>B · Observe</a:t>
            </a:r>
            <a:endParaRPr lang="en-US" sz="1500" dirty="0"/>
          </a:p>
        </p:txBody>
      </p:sp>
      <p:sp>
        <p:nvSpPr>
          <p:cNvPr id="13" name="Text 10"/>
          <p:cNvSpPr txBox="1"/>
          <p:nvPr/>
        </p:nvSpPr>
        <p:spPr>
          <a:xfrm>
            <a:off x="3502152" y="5212080"/>
            <a:ext cx="2286000" cy="82296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Track carbs in gut, insulin action, true plasma glucose</a:t>
            </a:r>
            <a:endParaRPr lang="en-US" sz="1250" dirty="0"/>
          </a:p>
        </p:txBody>
      </p:sp>
      <p:sp>
        <p:nvSpPr>
          <p:cNvPr id="14" name="Shape 11"/>
          <p:cNvSpPr/>
          <p:nvPr/>
        </p:nvSpPr>
        <p:spPr>
          <a:xfrm>
            <a:off x="6126480" y="4709160"/>
            <a:ext cx="2606040" cy="1417320"/>
          </a:xfrm>
          <a:prstGeom prst="roundRect">
            <a:avLst>
              <a:gd name="adj" fmla="val 5161"/>
            </a:avLst>
          </a:prstGeom>
          <a:solidFill>
            <a:srgbClr val="FFFFFF"/>
          </a:solidFill>
          <a:ln w="12700">
            <a:solidFill>
              <a:srgbClr val="1BAF7A"/>
            </a:solidFill>
            <a:prstDash val="solid"/>
          </a:ln>
        </p:spPr>
      </p:sp>
      <p:sp>
        <p:nvSpPr>
          <p:cNvPr id="15" name="Text 12"/>
          <p:cNvSpPr txBox="1"/>
          <p:nvPr/>
        </p:nvSpPr>
        <p:spPr>
          <a:xfrm>
            <a:off x="6291072" y="4818888"/>
            <a:ext cx="2286000" cy="365760"/>
          </a:xfrm>
          <a:prstGeom prst="rect">
            <a:avLst/>
          </a:prstGeom>
          <a:noFill/>
          <a:ln/>
        </p:spPr>
        <p:txBody>
          <a:bodyPr wrap="square" lIns="0" tIns="0" rIns="0" bIns="0" rtlCol="0" anchor="ctr"/>
          <a:lstStyle/>
          <a:p>
            <a:pPr indent="0" marL="0">
              <a:buNone/>
            </a:pPr>
            <a:r>
              <a:rPr lang="en-US" sz="1500" b="1" dirty="0">
                <a:solidFill>
                  <a:srgbClr val="15222A"/>
                </a:solidFill>
                <a:latin typeface="Calibri" pitchFamily="34" charset="0"/>
                <a:ea typeface="Calibri" pitchFamily="34" charset="-122"/>
                <a:cs typeface="Calibri" pitchFamily="34" charset="-120"/>
              </a:rPr>
              <a:t>C · Project</a:t>
            </a:r>
            <a:endParaRPr lang="en-US" sz="1500" dirty="0"/>
          </a:p>
        </p:txBody>
      </p:sp>
      <p:sp>
        <p:nvSpPr>
          <p:cNvPr id="16" name="Text 13"/>
          <p:cNvSpPr txBox="1"/>
          <p:nvPr/>
        </p:nvSpPr>
        <p:spPr>
          <a:xfrm>
            <a:off x="6291072" y="5212080"/>
            <a:ext cx="2286000" cy="82296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Simulate 2 h: food eaten + usual next meal</a:t>
            </a:r>
            <a:endParaRPr lang="en-US" sz="1250" dirty="0"/>
          </a:p>
        </p:txBody>
      </p:sp>
      <p:sp>
        <p:nvSpPr>
          <p:cNvPr id="17" name="Shape 14"/>
          <p:cNvSpPr/>
          <p:nvPr/>
        </p:nvSpPr>
        <p:spPr>
          <a:xfrm>
            <a:off x="8915400" y="4709160"/>
            <a:ext cx="2606040" cy="1417320"/>
          </a:xfrm>
          <a:prstGeom prst="roundRect">
            <a:avLst>
              <a:gd name="adj" fmla="val 5161"/>
            </a:avLst>
          </a:prstGeom>
          <a:solidFill>
            <a:srgbClr val="FFFFFF"/>
          </a:solidFill>
          <a:ln w="12700">
            <a:solidFill>
              <a:srgbClr val="1BAF7A"/>
            </a:solidFill>
            <a:prstDash val="solid"/>
          </a:ln>
        </p:spPr>
      </p:sp>
      <p:sp>
        <p:nvSpPr>
          <p:cNvPr id="18" name="Text 15"/>
          <p:cNvSpPr txBox="1"/>
          <p:nvPr/>
        </p:nvSpPr>
        <p:spPr>
          <a:xfrm>
            <a:off x="9079992" y="4818888"/>
            <a:ext cx="2286000" cy="365760"/>
          </a:xfrm>
          <a:prstGeom prst="rect">
            <a:avLst/>
          </a:prstGeom>
          <a:noFill/>
          <a:ln/>
        </p:spPr>
        <p:txBody>
          <a:bodyPr wrap="square" lIns="0" tIns="0" rIns="0" bIns="0" rtlCol="0" anchor="ctr"/>
          <a:lstStyle/>
          <a:p>
            <a:pPr indent="0" marL="0">
              <a:buNone/>
            </a:pPr>
            <a:r>
              <a:rPr lang="en-US" sz="1500" b="1" dirty="0">
                <a:solidFill>
                  <a:srgbClr val="15222A"/>
                </a:solidFill>
                <a:latin typeface="Calibri" pitchFamily="34" charset="0"/>
                <a:ea typeface="Calibri" pitchFamily="34" charset="-122"/>
                <a:cs typeface="Calibri" pitchFamily="34" charset="-120"/>
              </a:rPr>
              <a:t>D · What-if</a:t>
            </a:r>
            <a:endParaRPr lang="en-US" sz="1500" dirty="0"/>
          </a:p>
        </p:txBody>
      </p:sp>
      <p:sp>
        <p:nvSpPr>
          <p:cNvPr id="19" name="Text 16"/>
          <p:cNvSpPr txBox="1"/>
          <p:nvPr/>
        </p:nvSpPr>
        <p:spPr>
          <a:xfrm>
            <a:off x="9079992" y="5212080"/>
            <a:ext cx="2286000" cy="822960"/>
          </a:xfrm>
          <a:prstGeom prst="rect">
            <a:avLst/>
          </a:prstGeom>
          <a:noFill/>
          <a:ln/>
        </p:spPr>
        <p:txBody>
          <a:bodyPr wrap="square" lIns="0" tIns="0" rIns="0" bIns="0" rtlCol="0" anchor="t"/>
          <a:lstStyle/>
          <a:p>
            <a:pPr indent="0" marL="0">
              <a:buNone/>
            </a:pPr>
            <a:r>
              <a:rPr lang="en-US" sz="1250" dirty="0">
                <a:solidFill>
                  <a:srgbClr val="4C5A60"/>
                </a:solidFill>
                <a:latin typeface="Calibri" pitchFamily="34" charset="0"/>
                <a:ea typeface="Calibri" pitchFamily="34" charset="-122"/>
                <a:cs typeface="Calibri" pitchFamily="34" charset="-120"/>
              </a:rPr>
              <a:t>Re-simulate with a food swap, smaller portion or walk</a:t>
            </a:r>
            <a:endParaRPr lang="en-US" sz="125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21" name="Text 1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A digital twin, not just another risk model</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How the EHR and wearables are fused into one live patient state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400800" cy="914400"/>
        </p:xfrm>
        <a:graphic>
          <a:graphicData uri="http://schemas.openxmlformats.org/drawingml/2006/table">
            <a:tbl>
              <a:tblPr/>
              <a:tblGrid>
                <a:gridCol w="1554480"/>
                <a:gridCol w="2103120"/>
                <a:gridCol w="2743200"/>
              </a:tblGrid>
              <a:tr h="457200">
                <a:tc>
                  <a:txBody>
                    <a:bodyPr/>
                    <a:lstStyle/>
                    <a:p>
                      <a:pPr indent="0" marL="0">
                        <a:buNone/>
                      </a:pP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b="1" dirty="0">
                          <a:solidFill>
                            <a:srgbClr val="4C5A60"/>
                          </a:solidFill>
                          <a:latin typeface="Calibri" pitchFamily="34" charset="0"/>
                          <a:ea typeface="Calibri" pitchFamily="34" charset="-122"/>
                          <a:cs typeface="Calibri" pitchFamily="34" charset="-120"/>
                        </a:rPr>
                        <a:t>Ordinary AI risk model</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b="1" dirty="0">
                          <a:solidFill>
                            <a:srgbClr val="4C5A60"/>
                          </a:solidFill>
                          <a:latin typeface="Calibri" pitchFamily="34" charset="0"/>
                          <a:ea typeface="Calibri" pitchFamily="34" charset="-122"/>
                          <a:cs typeface="Calibri" pitchFamily="34" charset="-120"/>
                        </a:rPr>
                        <a:t>MadhuTwin</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5222A"/>
                          </a:solidFill>
                          <a:latin typeface="Calibri" pitchFamily="34" charset="0"/>
                          <a:ea typeface="Calibri" pitchFamily="34" charset="-122"/>
                          <a:cs typeface="Calibri" pitchFamily="34" charset="-120"/>
                        </a:rPr>
                        <a:t>Answers</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“Will glucose go high?”</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“What state is this person in, what happens next, what if we act?”</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r>
              <a:tr h="457200">
                <a:tc>
                  <a:txBody>
                    <a:bodyPr/>
                    <a:lstStyle/>
                    <a:p>
                      <a:pPr indent="0" marL="0">
                        <a:buNone/>
                      </a:pPr>
                      <a:r>
                        <a:rPr lang="en-US" sz="1250" b="1" dirty="0">
                          <a:solidFill>
                            <a:srgbClr val="15222A"/>
                          </a:solidFill>
                          <a:latin typeface="Calibri" pitchFamily="34" charset="0"/>
                          <a:ea typeface="Calibri" pitchFamily="34" charset="-122"/>
                          <a:cs typeface="Calibri" pitchFamily="34" charset="-120"/>
                        </a:rPr>
                        <a:t>Per-patient model</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No; shared weights</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Yes: SI, β-cell gain, basal glucose, dawn rise</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r>
              <a:tr h="457200">
                <a:tc>
                  <a:txBody>
                    <a:bodyPr/>
                    <a:lstStyle/>
                    <a:p>
                      <a:pPr indent="0" marL="0">
                        <a:buNone/>
                      </a:pPr>
                      <a:r>
                        <a:rPr lang="en-US" sz="1250" b="1" dirty="0">
                          <a:solidFill>
                            <a:srgbClr val="15222A"/>
                          </a:solidFill>
                          <a:latin typeface="Calibri" pitchFamily="34" charset="0"/>
                          <a:ea typeface="Calibri" pitchFamily="34" charset="-122"/>
                          <a:cs typeface="Calibri" pitchFamily="34" charset="-120"/>
                        </a:rPr>
                        <a:t>New patient</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Needs history</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Starts from the EHR on day 0; matures over week 1</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r>
              <a:tr h="457200">
                <a:tc>
                  <a:txBody>
                    <a:bodyPr/>
                    <a:lstStyle/>
                    <a:p>
                      <a:pPr indent="0" marL="0">
                        <a:buNone/>
                      </a:pPr>
                      <a:r>
                        <a:rPr lang="en-US" sz="1250" b="1" dirty="0">
                          <a:solidFill>
                            <a:srgbClr val="15222A"/>
                          </a:solidFill>
                          <a:latin typeface="Calibri" pitchFamily="34" charset="0"/>
                          <a:ea typeface="Calibri" pitchFamily="34" charset="-122"/>
                          <a:cs typeface="Calibri" pitchFamily="34" charset="-120"/>
                        </a:rPr>
                        <a:t>Interventions</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Cannot simulate</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Food swap, portion, walk: simulated estimates</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r>
              <a:tr h="457200">
                <a:tc>
                  <a:txBody>
                    <a:bodyPr/>
                    <a:lstStyle/>
                    <a:p>
                      <a:pPr indent="0" marL="0">
                        <a:buNone/>
                      </a:pPr>
                      <a:r>
                        <a:rPr lang="en-US" sz="1250" b="1" dirty="0">
                          <a:solidFill>
                            <a:srgbClr val="15222A"/>
                          </a:solidFill>
                          <a:latin typeface="Calibri" pitchFamily="34" charset="0"/>
                          <a:ea typeface="Calibri" pitchFamily="34" charset="-122"/>
                          <a:cs typeface="Calibri" pitchFamily="34" charset="-120"/>
                        </a:rPr>
                        <a:t>Drift</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Retrain</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indent="0" marL="0">
                        <a:buNone/>
                      </a:pPr>
                      <a:r>
                        <a:rPr lang="en-US" sz="1250" dirty="0">
                          <a:solidFill>
                            <a:srgbClr val="15222A"/>
                          </a:solidFill>
                          <a:latin typeface="Calibri" pitchFamily="34" charset="0"/>
                          <a:ea typeface="Calibri" pitchFamily="34" charset="-122"/>
                          <a:cs typeface="Calibri" pitchFamily="34" charset="-120"/>
                        </a:rPr>
                        <a:t>Nightly re-personalisation</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r>
            </a:tbl>
          </a:graphicData>
        </a:graphic>
      </p:graphicFrame>
      <p:sp>
        <p:nvSpPr>
          <p:cNvPr id="5" name="Shape 2"/>
          <p:cNvSpPr/>
          <p:nvPr/>
        </p:nvSpPr>
        <p:spPr>
          <a:xfrm>
            <a:off x="548640" y="4572000"/>
            <a:ext cx="6400800" cy="1737360"/>
          </a:xfrm>
          <a:prstGeom prst="roundRect">
            <a:avLst>
              <a:gd name="adj" fmla="val 4211"/>
            </a:avLst>
          </a:prstGeom>
          <a:solidFill>
            <a:srgbClr val="FFFFFF"/>
          </a:solidFill>
          <a:ln w="12700">
            <a:solidFill>
              <a:srgbClr val="E1E4DE"/>
            </a:solidFill>
            <a:prstDash val="solid"/>
          </a:ln>
        </p:spPr>
      </p:sp>
      <p:sp>
        <p:nvSpPr>
          <p:cNvPr id="6" name="Text 3"/>
          <p:cNvSpPr txBox="1"/>
          <p:nvPr/>
        </p:nvSpPr>
        <p:spPr>
          <a:xfrm>
            <a:off x="749808" y="4718304"/>
            <a:ext cx="599846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How fusion works</a:t>
            </a:r>
            <a:endParaRPr lang="en-US" sz="1600" dirty="0"/>
          </a:p>
        </p:txBody>
      </p:sp>
      <p:sp>
        <p:nvSpPr>
          <p:cNvPr id="7" name="Text 4"/>
          <p:cNvSpPr txBox="1"/>
          <p:nvPr/>
        </p:nvSpPr>
        <p:spPr>
          <a:xfrm>
            <a:off x="749808" y="5120640"/>
            <a:ext cx="5998464" cy="1051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EHR → informed prior for a regularised fit of the twin's physiology (HOMA-IR → insulin sensitivity, HOMA-B → β-cell gain)</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Wearables → the twin's observer every 5 min (CGM), its inputs (meals, steps) and personal baselines (HR, HRV, sleep)</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Twin state + raw streams + EHR → Layer 2 AI</a:t>
            </a:r>
            <a:endParaRPr lang="en-US" sz="14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7178040" y="1600200"/>
          <a:ext cx="4434840" cy="914400"/>
        </p:xfrm>
        <a:graphic>
          <a:graphicData uri="http://schemas.openxmlformats.org/drawingml/2006/table">
            <a:tbl>
              <a:tblPr/>
              <a:tblGrid>
                <a:gridCol w="3154680"/>
                <a:gridCol w="1280160"/>
              </a:tblGrid>
              <a:tr h="393192">
                <a:tc>
                  <a:txBody>
                    <a:bodyPr/>
                    <a:lstStyle/>
                    <a:p>
                      <a:pPr algn="l" indent="0" marL="0">
                        <a:buNone/>
                      </a:pPr>
                      <a:r>
                        <a:rPr lang="en-US" sz="1200" b="1" dirty="0">
                          <a:solidFill>
                            <a:srgbClr val="4C5A60"/>
                          </a:solidFill>
                          <a:latin typeface="Calibri" pitchFamily="34" charset="0"/>
                          <a:ea typeface="Calibri" pitchFamily="34" charset="-122"/>
                          <a:cs typeface="Calibri" pitchFamily="34" charset="-120"/>
                        </a:rPr>
                        <a:t>Patient state vector</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4C5A60"/>
                          </a:solidFill>
                          <a:latin typeface="Calibri" pitchFamily="34" charset="0"/>
                          <a:ea typeface="Calibri" pitchFamily="34" charset="-122"/>
                          <a:cs typeface="Calibri" pitchFamily="34" charset="-120"/>
                        </a:rPr>
                        <a:t>Updated</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Glucose (plasma, ahead of sensor)</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Carbs still in the gut</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Insulin action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Activity, HR vs own baseline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5 min</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Sleep debt, HRV vs baseline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nightly</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Insulin sensitivity (× baseline)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nightly</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Basal glucose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nightly</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β-cell gain, dawn rise</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HbA1c, eGFR, medicines</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new result</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93192">
                <a:tc>
                  <a:txBody>
                    <a:bodyPr/>
                    <a:lstStyle/>
                    <a:p>
                      <a:pPr algn="l" indent="0" marL="0">
                        <a:buNone/>
                      </a:pPr>
                      <a:r>
                        <a:rPr lang="en-US" sz="1200" dirty="0">
                          <a:solidFill>
                            <a:srgbClr val="15222A"/>
                          </a:solidFill>
                          <a:latin typeface="Calibri" pitchFamily="34" charset="0"/>
                          <a:ea typeface="Calibri" pitchFamily="34" charset="-122"/>
                          <a:cs typeface="Calibri" pitchFamily="34" charset="-120"/>
                        </a:rPr>
                        <a:t>Habitual next meal</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5222A"/>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0"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It warns before the spike</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45 held-out patients the model never saw · days 8–21 · a decision every 5 minutes</a:t>
            </a:r>
            <a:endParaRPr lang="en-US" sz="1600" dirty="0"/>
          </a:p>
        </p:txBody>
      </p:sp>
      <p:sp>
        <p:nvSpPr>
          <p:cNvPr id="4" name="Shape 2"/>
          <p:cNvSpPr/>
          <p:nvPr/>
        </p:nvSpPr>
        <p:spPr>
          <a:xfrm>
            <a:off x="548640" y="1554480"/>
            <a:ext cx="2651760" cy="1234440"/>
          </a:xfrm>
          <a:prstGeom prst="roundRect">
            <a:avLst>
              <a:gd name="adj" fmla="val 5926"/>
            </a:avLst>
          </a:prstGeom>
          <a:solidFill>
            <a:srgbClr val="FFFFFF"/>
          </a:solidFill>
          <a:ln w="12700">
            <a:solidFill>
              <a:srgbClr val="E1E4DE"/>
            </a:solidFill>
            <a:prstDash val="solid"/>
          </a:ln>
        </p:spPr>
      </p:sp>
      <p:sp>
        <p:nvSpPr>
          <p:cNvPr id="5" name="Text 3"/>
          <p:cNvSpPr txBox="1"/>
          <p:nvPr/>
        </p:nvSpPr>
        <p:spPr>
          <a:xfrm>
            <a:off x="731520" y="1664208"/>
            <a:ext cx="2286000" cy="640080"/>
          </a:xfrm>
          <a:prstGeom prst="rect">
            <a:avLst/>
          </a:prstGeom>
          <a:noFill/>
          <a:ln/>
        </p:spPr>
        <p:txBody>
          <a:bodyPr wrap="square" lIns="0" tIns="0" rIns="0" bIns="0" rtlCol="0" anchor="ctr"/>
          <a:lstStyle/>
          <a:p>
            <a:pPr indent="0" marL="0">
              <a:buNone/>
            </a:pPr>
            <a:r>
              <a:rPr lang="en-US" sz="3200" b="1" dirty="0">
                <a:solidFill>
                  <a:srgbClr val="1BAF7A"/>
                </a:solidFill>
                <a:latin typeface="Cambria" pitchFamily="34" charset="0"/>
                <a:ea typeface="Cambria" pitchFamily="34" charset="-122"/>
                <a:cs typeface="Cambria" pitchFamily="34" charset="-120"/>
              </a:rPr>
              <a:t>0.912</a:t>
            </a:r>
            <a:endParaRPr lang="en-US" sz="3200" dirty="0"/>
          </a:p>
        </p:txBody>
      </p:sp>
      <p:sp>
        <p:nvSpPr>
          <p:cNvPr id="6" name="Text 4"/>
          <p:cNvSpPr txBox="1"/>
          <p:nvPr/>
        </p:nvSpPr>
        <p:spPr>
          <a:xfrm>
            <a:off x="731520" y="2286000"/>
            <a:ext cx="228600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AUROC, ≥180 mg/dL within 2 h (95% CI 0.905–0.918)</a:t>
            </a:r>
            <a:endParaRPr lang="en-US" sz="1200" dirty="0"/>
          </a:p>
        </p:txBody>
      </p:sp>
      <p:sp>
        <p:nvSpPr>
          <p:cNvPr id="7" name="Shape 5"/>
          <p:cNvSpPr/>
          <p:nvPr/>
        </p:nvSpPr>
        <p:spPr>
          <a:xfrm>
            <a:off x="3337560" y="1554480"/>
            <a:ext cx="2651760" cy="1234440"/>
          </a:xfrm>
          <a:prstGeom prst="roundRect">
            <a:avLst>
              <a:gd name="adj" fmla="val 5926"/>
            </a:avLst>
          </a:prstGeom>
          <a:solidFill>
            <a:srgbClr val="FFFFFF"/>
          </a:solidFill>
          <a:ln w="12700">
            <a:solidFill>
              <a:srgbClr val="E1E4DE"/>
            </a:solidFill>
            <a:prstDash val="solid"/>
          </a:ln>
        </p:spPr>
      </p:sp>
      <p:sp>
        <p:nvSpPr>
          <p:cNvPr id="8" name="Text 6"/>
          <p:cNvSpPr txBox="1"/>
          <p:nvPr/>
        </p:nvSpPr>
        <p:spPr>
          <a:xfrm>
            <a:off x="3520440" y="1664208"/>
            <a:ext cx="228600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75%</a:t>
            </a:r>
            <a:endParaRPr lang="en-US" sz="3200" dirty="0"/>
          </a:p>
        </p:txBody>
      </p:sp>
      <p:sp>
        <p:nvSpPr>
          <p:cNvPr id="9" name="Text 7"/>
          <p:cNvSpPr txBox="1"/>
          <p:nvPr/>
        </p:nvSpPr>
        <p:spPr>
          <a:xfrm>
            <a:off x="3520440" y="2286000"/>
            <a:ext cx="228600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of 2,001 spikes warned ≥30 min ahead by delivered alerts (CI 70%–79%)</a:t>
            </a:r>
            <a:endParaRPr lang="en-US" sz="1200" dirty="0"/>
          </a:p>
        </p:txBody>
      </p:sp>
      <p:sp>
        <p:nvSpPr>
          <p:cNvPr id="10" name="Shape 8"/>
          <p:cNvSpPr/>
          <p:nvPr/>
        </p:nvSpPr>
        <p:spPr>
          <a:xfrm>
            <a:off x="6126480" y="1554480"/>
            <a:ext cx="2651760" cy="1234440"/>
          </a:xfrm>
          <a:prstGeom prst="roundRect">
            <a:avLst>
              <a:gd name="adj" fmla="val 5926"/>
            </a:avLst>
          </a:prstGeom>
          <a:solidFill>
            <a:srgbClr val="FFFFFF"/>
          </a:solidFill>
          <a:ln w="12700">
            <a:solidFill>
              <a:srgbClr val="E1E4DE"/>
            </a:solidFill>
            <a:prstDash val="solid"/>
          </a:ln>
        </p:spPr>
      </p:sp>
      <p:sp>
        <p:nvSpPr>
          <p:cNvPr id="11" name="Text 9"/>
          <p:cNvSpPr txBox="1"/>
          <p:nvPr/>
        </p:nvSpPr>
        <p:spPr>
          <a:xfrm>
            <a:off x="6309360" y="1664208"/>
            <a:ext cx="228600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75 min</a:t>
            </a:r>
            <a:endParaRPr lang="en-US" sz="3200" dirty="0"/>
          </a:p>
        </p:txBody>
      </p:sp>
      <p:sp>
        <p:nvSpPr>
          <p:cNvPr id="12" name="Text 10"/>
          <p:cNvSpPr txBox="1"/>
          <p:nvPr/>
        </p:nvSpPr>
        <p:spPr>
          <a:xfrm>
            <a:off x="6309360" y="2286000"/>
            <a:ext cx="228600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median warning before onset</a:t>
            </a:r>
            <a:endParaRPr lang="en-US" sz="1200" dirty="0"/>
          </a:p>
        </p:txBody>
      </p:sp>
      <p:sp>
        <p:nvSpPr>
          <p:cNvPr id="13" name="Shape 11"/>
          <p:cNvSpPr/>
          <p:nvPr/>
        </p:nvSpPr>
        <p:spPr>
          <a:xfrm>
            <a:off x="8915400" y="1554480"/>
            <a:ext cx="2697480" cy="1234440"/>
          </a:xfrm>
          <a:prstGeom prst="roundRect">
            <a:avLst>
              <a:gd name="adj" fmla="val 5926"/>
            </a:avLst>
          </a:prstGeom>
          <a:solidFill>
            <a:srgbClr val="FFFFFF"/>
          </a:solidFill>
          <a:ln w="12700">
            <a:solidFill>
              <a:srgbClr val="E1E4DE"/>
            </a:solidFill>
            <a:prstDash val="solid"/>
          </a:ln>
        </p:spPr>
      </p:sp>
      <p:sp>
        <p:nvSpPr>
          <p:cNvPr id="14" name="Text 12"/>
          <p:cNvSpPr txBox="1"/>
          <p:nvPr/>
        </p:nvSpPr>
        <p:spPr>
          <a:xfrm>
            <a:off x="9098280" y="1664208"/>
            <a:ext cx="233172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2.3</a:t>
            </a:r>
            <a:endParaRPr lang="en-US" sz="3200" dirty="0"/>
          </a:p>
        </p:txBody>
      </p:sp>
      <p:sp>
        <p:nvSpPr>
          <p:cNvPr id="15" name="Text 13"/>
          <p:cNvSpPr txBox="1"/>
          <p:nvPr/>
        </p:nvSpPr>
        <p:spPr>
          <a:xfrm>
            <a:off x="9098280" y="2286000"/>
            <a:ext cx="233172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false alerts per patient-day (threshold 0.40)</a:t>
            </a:r>
            <a:endParaRPr lang="en-US" sz="1200" dirty="0"/>
          </a:p>
        </p:txBody>
      </p:sp>
      <p:pic>
        <p:nvPicPr>
          <p:cNvPr id="16" name="Image 0" descr="/home/claude/MadhuTwin/docs/img/fig_patient_day.png">    </p:cNvPr>
          <p:cNvPicPr>
            <a:picLocks noChangeAspect="1"/>
          </p:cNvPicPr>
          <p:nvPr/>
        </p:nvPicPr>
        <p:blipFill>
          <a:blip r:embed="rId1"/>
          <a:srcRect l="0" r="0" t="0" b="0"/>
          <a:stretch/>
        </p:blipFill>
        <p:spPr>
          <a:xfrm>
            <a:off x="548640" y="2971800"/>
            <a:ext cx="6583680" cy="3337560"/>
          </a:xfrm>
          <a:prstGeom prst="rect">
            <a:avLst/>
          </a:prstGeom>
        </p:spPr>
      </p:pic>
      <p:sp>
        <p:nvSpPr>
          <p:cNvPr id="17" name="Shape 14"/>
          <p:cNvSpPr/>
          <p:nvPr/>
        </p:nvSpPr>
        <p:spPr>
          <a:xfrm>
            <a:off x="7360920" y="2971800"/>
            <a:ext cx="4251960" cy="3337560"/>
          </a:xfrm>
          <a:prstGeom prst="roundRect">
            <a:avLst>
              <a:gd name="adj" fmla="val 2192"/>
            </a:avLst>
          </a:prstGeom>
          <a:solidFill>
            <a:srgbClr val="FFFFFF"/>
          </a:solidFill>
          <a:ln w="12700">
            <a:solidFill>
              <a:srgbClr val="E1E4DE"/>
            </a:solidFill>
            <a:prstDash val="solid"/>
          </a:ln>
        </p:spPr>
      </p:sp>
      <p:sp>
        <p:nvSpPr>
          <p:cNvPr id="18" name="Text 15"/>
          <p:cNvSpPr txBox="1"/>
          <p:nvPr/>
        </p:nvSpPr>
        <p:spPr>
          <a:xfrm>
            <a:off x="7562088" y="3118104"/>
            <a:ext cx="38496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Operating threshold 0.40: why</a:t>
            </a:r>
            <a:endParaRPr lang="en-US" sz="1600" dirty="0"/>
          </a:p>
        </p:txBody>
      </p:sp>
      <p:sp>
        <p:nvSpPr>
          <p:cNvPr id="19" name="Text 16"/>
          <p:cNvSpPr txBox="1"/>
          <p:nvPr/>
        </p:nvSpPr>
        <p:spPr>
          <a:xfrm>
            <a:off x="7562088" y="3520440"/>
            <a:ext cx="3849624"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Chosen on validation patients (best F1), never on test</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Debounced to ≤1 alert per hour. “We optimise for useful alerts, not maximum sensitivity.”</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 busy clinic can pick 0.70: 0.8 false alerts/day, still 63% of spikes ≥30 min early</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When: onset time error 17 min; 2-h peak error 18 mg/dL</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Calibrated: ECE 0.009, Brier 0.105; confidence from a 5-model ensemble</a:t>
            </a:r>
            <a:endParaRPr lang="en-US" sz="14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21" name="Text 1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Retrospective check on open cohorts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265 adults (183 prediabetes, 72 normoglycaemic, 10 T2D) · CGM + labs only · re-trained, patient-level CV · target ≥140 mg/dL</a:t>
            </a:r>
            <a:endParaRPr lang="en-US" sz="1600" dirty="0"/>
          </a:p>
        </p:txBody>
      </p:sp>
      <p:pic>
        <p:nvPicPr>
          <p:cNvPr id="4" name="Image 0" descr="/home/claude/MadhuTwin/docs/img/fig_realworld.png">    </p:cNvPr>
          <p:cNvPicPr>
            <a:picLocks noChangeAspect="1"/>
          </p:cNvPicPr>
          <p:nvPr/>
        </p:nvPicPr>
        <p:blipFill>
          <a:blip r:embed="rId1"/>
          <a:srcRect l="0" r="0" t="0" b="0"/>
          <a:stretch/>
        </p:blipFill>
        <p:spPr>
          <a:xfrm>
            <a:off x="548640" y="1508760"/>
            <a:ext cx="11064240" cy="3108960"/>
          </a:xfrm>
          <a:prstGeom prst="rect">
            <a:avLst/>
          </a:prstGeom>
        </p:spPr>
      </p:pic>
      <p:sp>
        <p:nvSpPr>
          <p:cNvPr id="5" name="Shape 2"/>
          <p:cNvSpPr/>
          <p:nvPr/>
        </p:nvSpPr>
        <p:spPr>
          <a:xfrm>
            <a:off x="548640" y="4709160"/>
            <a:ext cx="3566160" cy="1234440"/>
          </a:xfrm>
          <a:prstGeom prst="roundRect">
            <a:avLst>
              <a:gd name="adj" fmla="val 5926"/>
            </a:avLst>
          </a:prstGeom>
          <a:solidFill>
            <a:srgbClr val="E1F5EC"/>
          </a:solidFill>
          <a:ln w="12700">
            <a:solidFill>
              <a:srgbClr val="E1E4DE"/>
            </a:solidFill>
            <a:prstDash val="solid"/>
          </a:ln>
        </p:spPr>
      </p:sp>
      <p:sp>
        <p:nvSpPr>
          <p:cNvPr id="6" name="Text 3"/>
          <p:cNvSpPr txBox="1"/>
          <p:nvPr/>
        </p:nvSpPr>
        <p:spPr>
          <a:xfrm>
            <a:off x="749808" y="4855464"/>
            <a:ext cx="31638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AUROC 0.809 / 0.793</a:t>
            </a:r>
            <a:endParaRPr lang="en-US" sz="1600" dirty="0"/>
          </a:p>
        </p:txBody>
      </p:sp>
      <p:sp>
        <p:nvSpPr>
          <p:cNvPr id="7" name="Text 4"/>
          <p:cNvSpPr txBox="1"/>
          <p:nvPr/>
        </p:nvSpPr>
        <p:spPr>
          <a:xfrm>
            <a:off x="749808" y="5257800"/>
            <a:ext cx="3163824" cy="54864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CGM-only / CGM + EHR, ≥140 mg/dL in 2 h (trend baseline 0.671); not the full system</a:t>
            </a:r>
            <a:endParaRPr lang="en-US" sz="1400" dirty="0"/>
          </a:p>
        </p:txBody>
      </p:sp>
      <p:sp>
        <p:nvSpPr>
          <p:cNvPr id="8" name="Shape 5"/>
          <p:cNvSpPr/>
          <p:nvPr/>
        </p:nvSpPr>
        <p:spPr>
          <a:xfrm>
            <a:off x="4297680" y="4709160"/>
            <a:ext cx="3566160" cy="1234440"/>
          </a:xfrm>
          <a:prstGeom prst="roundRect">
            <a:avLst>
              <a:gd name="adj" fmla="val 5926"/>
            </a:avLst>
          </a:prstGeom>
          <a:solidFill>
            <a:srgbClr val="FFFFFF"/>
          </a:solidFill>
          <a:ln w="12700">
            <a:solidFill>
              <a:srgbClr val="E1E4DE"/>
            </a:solidFill>
            <a:prstDash val="solid"/>
          </a:ln>
        </p:spPr>
      </p:sp>
      <p:sp>
        <p:nvSpPr>
          <p:cNvPr id="9" name="Text 6"/>
          <p:cNvSpPr txBox="1"/>
          <p:nvPr/>
        </p:nvSpPr>
        <p:spPr>
          <a:xfrm>
            <a:off x="4498848" y="4855464"/>
            <a:ext cx="31638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99.2% in Clarke zones A+B</a:t>
            </a:r>
            <a:endParaRPr lang="en-US" sz="1600" dirty="0"/>
          </a:p>
        </p:txBody>
      </p:sp>
      <p:sp>
        <p:nvSpPr>
          <p:cNvPr id="10" name="Text 7"/>
          <p:cNvSpPr txBox="1"/>
          <p:nvPr/>
        </p:nvSpPr>
        <p:spPr>
          <a:xfrm>
            <a:off x="4498848" y="5257800"/>
            <a:ext cx="3163824" cy="54864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30-min forecasts: 6.7 mg/dL error vs 7.9 for 'no change'</a:t>
            </a:r>
            <a:endParaRPr lang="en-US" sz="1400" dirty="0"/>
          </a:p>
        </p:txBody>
      </p:sp>
      <p:sp>
        <p:nvSpPr>
          <p:cNvPr id="11" name="Text 8"/>
          <p:cNvSpPr txBox="1"/>
          <p:nvPr/>
        </p:nvSpPr>
        <p:spPr>
          <a:xfrm>
            <a:off x="548640" y="5989320"/>
            <a:ext cx="11064240" cy="411480"/>
          </a:xfrm>
          <a:prstGeom prst="rect">
            <a:avLst/>
          </a:prstGeom>
          <a:noFill/>
          <a:ln/>
        </p:spPr>
        <p:txBody>
          <a:bodyPr wrap="square" lIns="0" tIns="0" rIns="0" bIns="0" rtlCol="0" anchor="ctr"/>
          <a:lstStyle/>
          <a:p>
            <a:pPr indent="0" marL="0">
              <a:buNone/>
            </a:pPr>
            <a:r>
              <a:rPr lang="en-US" sz="1050" dirty="0">
                <a:solidFill>
                  <a:srgbClr val="4C5A60"/>
                </a:solidFill>
                <a:latin typeface="Calibri" pitchFamily="34" charset="0"/>
                <a:ea typeface="Calibri" pitchFamily="34" charset="-122"/>
                <a:cs typeface="Calibri" pitchFamily="34" charset="-120"/>
              </a:rPr>
              <a:t>Not external validation of the synthetic-trained twin: the pipeline was re-trained and cross-validated within these cohorts (no person in both train and test). Only 10 people have T2D; meals, wearables, the full twin and Indian patients are untested on real data.</a:t>
            </a:r>
            <a:endParaRPr lang="en-US" sz="1050" dirty="0"/>
          </a:p>
        </p:txBody>
      </p:sp>
      <p:sp>
        <p:nvSpPr>
          <p:cNvPr id="12" name="Shape 9"/>
          <p:cNvSpPr/>
          <p:nvPr/>
        </p:nvSpPr>
        <p:spPr>
          <a:xfrm>
            <a:off x="8046720" y="4709160"/>
            <a:ext cx="3566160" cy="1234440"/>
          </a:xfrm>
          <a:prstGeom prst="roundRect">
            <a:avLst>
              <a:gd name="adj" fmla="val 5926"/>
            </a:avLst>
          </a:prstGeom>
          <a:solidFill>
            <a:srgbClr val="FFFFFF"/>
          </a:solidFill>
          <a:ln w="12700">
            <a:solidFill>
              <a:srgbClr val="E1E4DE"/>
            </a:solidFill>
            <a:prstDash val="solid"/>
          </a:ln>
        </p:spPr>
      </p:sp>
      <p:sp>
        <p:nvSpPr>
          <p:cNvPr id="13" name="Text 10"/>
          <p:cNvSpPr txBox="1"/>
          <p:nvPr/>
        </p:nvSpPr>
        <p:spPr>
          <a:xfrm>
            <a:off x="8247888" y="4855464"/>
            <a:ext cx="31638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Fusion wins on physiology</a:t>
            </a:r>
            <a:endParaRPr lang="en-US" sz="1600" dirty="0"/>
          </a:p>
        </p:txBody>
      </p:sp>
      <p:sp>
        <p:nvSpPr>
          <p:cNvPr id="14" name="Text 11"/>
          <p:cNvSpPr txBox="1"/>
          <p:nvPr/>
        </p:nvSpPr>
        <p:spPr>
          <a:xfrm>
            <a:off x="8247888" y="5257800"/>
            <a:ext cx="3163824" cy="54864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Insulin resistance (gold-standard SSPG): labs + CGM ρ 0.55 vs labs 0.46, CGM 0.23 (n=42); the alarm itself is CGM-driven</a:t>
            </a:r>
            <a:endParaRPr lang="en-US" sz="1400" dirty="0"/>
          </a:p>
        </p:txBody>
      </p:sp>
      <p:sp>
        <p:nvSpPr>
          <p:cNvPr id="15"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6" name="Text 13"/>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Evaluation details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Held-out synthetic evaluation · Clarke error grid · patient-level 95% CIs · empirical forecast bands · exploratory subgroups</a:t>
            </a:r>
            <a:endParaRPr lang="en-US" sz="1600" dirty="0"/>
          </a:p>
        </p:txBody>
      </p:sp>
      <p:pic>
        <p:nvPicPr>
          <p:cNvPr id="4" name="Image 0" descr="/home/claude/MadhuTwin/docs/img/fig_clarke.png">    </p:cNvPr>
          <p:cNvPicPr>
            <a:picLocks noChangeAspect="1"/>
          </p:cNvPicPr>
          <p:nvPr/>
        </p:nvPicPr>
        <p:blipFill>
          <a:blip r:embed="rId1"/>
          <a:srcRect l="0" r="0" t="0" b="0"/>
          <a:stretch/>
        </p:blipFill>
        <p:spPr>
          <a:xfrm>
            <a:off x="548640" y="1508760"/>
            <a:ext cx="6949440" cy="2423160"/>
          </a:xfrm>
          <a:prstGeom prst="rect">
            <a:avLst/>
          </a:prstGeom>
        </p:spPr>
      </p:pic>
      <p:pic>
        <p:nvPicPr>
          <p:cNvPr id="5" name="Image 1" descr="/home/claude/MadhuTwin/docs/img/fig_fairness.png">    </p:cNvPr>
          <p:cNvPicPr>
            <a:picLocks noChangeAspect="1"/>
          </p:cNvPicPr>
          <p:nvPr/>
        </p:nvPicPr>
        <p:blipFill>
          <a:blip r:embed="rId2"/>
          <a:srcRect l="0" r="0" t="0" b="0"/>
          <a:stretch/>
        </p:blipFill>
        <p:spPr>
          <a:xfrm>
            <a:off x="7635240" y="1417320"/>
            <a:ext cx="4023360" cy="4937760"/>
          </a:xfrm>
          <a:prstGeom prst="rect">
            <a:avLst/>
          </a:prstGeom>
        </p:spPr>
      </p:pic>
      <p:sp>
        <p:nvSpPr>
          <p:cNvPr id="6" name="Shape 2"/>
          <p:cNvSpPr/>
          <p:nvPr/>
        </p:nvSpPr>
        <p:spPr>
          <a:xfrm>
            <a:off x="548640" y="4114800"/>
            <a:ext cx="6949440" cy="2148840"/>
          </a:xfrm>
          <a:prstGeom prst="roundRect">
            <a:avLst>
              <a:gd name="adj" fmla="val 3404"/>
            </a:avLst>
          </a:prstGeom>
          <a:solidFill>
            <a:srgbClr val="FFFFFF"/>
          </a:solidFill>
          <a:ln w="12700">
            <a:solidFill>
              <a:srgbClr val="E1E4DE"/>
            </a:solidFill>
            <a:prstDash val="solid"/>
          </a:ln>
        </p:spPr>
      </p:sp>
      <p:sp>
        <p:nvSpPr>
          <p:cNvPr id="7" name="Text 3"/>
          <p:cNvSpPr txBox="1"/>
          <p:nvPr/>
        </p:nvSpPr>
        <p:spPr>
          <a:xfrm>
            <a:off x="749808" y="4261104"/>
            <a:ext cx="654710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How the numbers were checked</a:t>
            </a:r>
            <a:endParaRPr lang="en-US" sz="1600" dirty="0"/>
          </a:p>
        </p:txBody>
      </p:sp>
      <p:sp>
        <p:nvSpPr>
          <p:cNvPr id="8" name="Text 4"/>
          <p:cNvSpPr txBox="1"/>
          <p:nvPr/>
        </p:nvSpPr>
        <p:spPr>
          <a:xfrm>
            <a:off x="749808" y="4663440"/>
            <a:ext cx="6547104"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Forecasts: 99.9% / 98.9% / 98.1% in Clarke zones A+B at 30 / 60 / 120 min; zone D+E (dangerous) 0.13% at 30 min</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Empirical coverage of split-conformal 80% bands: 79% at 60 min (raw quantiles 74%); observed on this test set, not guaranteed</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Subgroups (exploratory, small): AUROC 0.903–0.932 across sex, age, BMI, HbA1c, medication and region</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Every headline number carries a 95% CI from resampling patients</a:t>
            </a:r>
            <a:endParaRPr lang="en-US" sz="1400" dirty="0"/>
          </a:p>
        </p:txBody>
      </p:sp>
      <p:sp>
        <p:nvSpPr>
          <p:cNvPr id="9"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0"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What each data stream contributes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AUROC on held-out patients; we report what we found, including where fusion did not help</a:t>
            </a:r>
            <a:endParaRPr lang="en-US" sz="1600" dirty="0"/>
          </a:p>
        </p:txBody>
      </p:sp>
      <p:graphicFrame>
        <p:nvGraphicFramePr>
          <p:cNvPr id="4" name="Chart 0" descr=""/>
          <p:cNvGraphicFramePr/>
          <p:nvPr/>
        </p:nvGraphicFramePr>
        <p:xfrm>
          <a:off x="548640" y="1554480"/>
          <a:ext cx="6675120" cy="4663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06640" y="1554480"/>
            <a:ext cx="4206240" cy="4663440"/>
          </a:xfrm>
          <a:prstGeom prst="roundRect">
            <a:avLst>
              <a:gd name="adj" fmla="val 1739"/>
            </a:avLst>
          </a:prstGeom>
          <a:solidFill>
            <a:srgbClr val="FFFFFF"/>
          </a:solidFill>
          <a:ln w="12700">
            <a:solidFill>
              <a:srgbClr val="E1E4DE"/>
            </a:solidFill>
            <a:prstDash val="solid"/>
          </a:ln>
        </p:spPr>
      </p:sp>
      <p:sp>
        <p:nvSpPr>
          <p:cNvPr id="6" name="Text 3"/>
          <p:cNvSpPr txBox="1"/>
          <p:nvPr/>
        </p:nvSpPr>
        <p:spPr>
          <a:xfrm>
            <a:off x="7607808" y="1700784"/>
            <a:ext cx="380390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What we learned</a:t>
            </a:r>
            <a:endParaRPr lang="en-US" sz="1600" dirty="0"/>
          </a:p>
        </p:txBody>
      </p:sp>
      <p:sp>
        <p:nvSpPr>
          <p:cNvPr id="7" name="Text 4"/>
          <p:cNvSpPr txBox="1"/>
          <p:nvPr/>
        </p:nvSpPr>
        <p:spPr>
          <a:xfrm>
            <a:off x="7607808" y="2103120"/>
            <a:ext cx="3803904" cy="3977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Once a patient has a week of CGM, their own glucose history carries most of the signal</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EHR alone is informative (0.844) but adds little on top of wearables for the 2-h alarm</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Where the EHR matters: personalising physiology (insulin sensitivity rho 0.13 → 0.78) and the what-if simulator</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Genotype added nothing (AUROC 0.9123 with vs 0.9117 without), so the risk model leaves it out</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The twin's value is in low data and counterfactuals: next slide</a:t>
            </a:r>
            <a:endParaRPr lang="en-US" sz="1400" dirty="0"/>
          </a:p>
        </p:txBody>
      </p:sp>
      <p:sp>
        <p:nvSpPr>
          <p:cNvPr id="8"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9"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What the twin measurably adds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Same LightGBM, same data, with vs without twin features · held-out patients</a:t>
            </a:r>
            <a:endParaRPr lang="en-US" sz="1600" dirty="0"/>
          </a:p>
        </p:txBody>
      </p:sp>
      <p:graphicFrame>
        <p:nvGraphicFramePr>
          <p:cNvPr id="4" name="Chart 0" descr=""/>
          <p:cNvGraphicFramePr/>
          <p:nvPr/>
        </p:nvGraphicFramePr>
        <p:xfrm>
          <a:off x="548640" y="1554480"/>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4800600"/>
            <a:ext cx="5669280" cy="1508760"/>
          </a:xfrm>
          <a:prstGeom prst="roundRect">
            <a:avLst>
              <a:gd name="adj" fmla="val 4848"/>
            </a:avLst>
          </a:prstGeom>
          <a:solidFill>
            <a:srgbClr val="FFFFFF"/>
          </a:solidFill>
          <a:ln w="12700">
            <a:solidFill>
              <a:srgbClr val="E1E4DE"/>
            </a:solidFill>
            <a:prstDash val="solid"/>
          </a:ln>
        </p:spPr>
      </p:sp>
      <p:sp>
        <p:nvSpPr>
          <p:cNvPr id="6" name="Text 3"/>
          <p:cNvSpPr txBox="1"/>
          <p:nvPr/>
        </p:nvSpPr>
        <p:spPr>
          <a:xfrm>
            <a:off x="749808" y="4946904"/>
            <a:ext cx="526694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Honest reading</a:t>
            </a:r>
            <a:endParaRPr lang="en-US" sz="1600" dirty="0"/>
          </a:p>
        </p:txBody>
      </p:sp>
      <p:sp>
        <p:nvSpPr>
          <p:cNvPr id="7" name="Text 4"/>
          <p:cNvSpPr txBox="1"/>
          <p:nvPr/>
        </p:nvSpPr>
        <p:spPr>
          <a:xfrm>
            <a:off x="749808" y="5349240"/>
            <a:ext cx="5266944" cy="82296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With all 210 training patients the gain is within noise (+0.0007, 95% CI -0.0004 to +0.0020); false alerts at equal sensitivity 2.23 → 2.30/day. The twin helps most where data are scarce: a new clinic or a new patient.</a:t>
            </a:r>
            <a:endParaRPr lang="en-US" sz="1400" dirty="0"/>
          </a:p>
        </p:txBody>
      </p:sp>
      <p:sp>
        <p:nvSpPr>
          <p:cNvPr id="8" name="Shape 5"/>
          <p:cNvSpPr/>
          <p:nvPr/>
        </p:nvSpPr>
        <p:spPr>
          <a:xfrm>
            <a:off x="6446520" y="1554480"/>
            <a:ext cx="2514600" cy="1234440"/>
          </a:xfrm>
          <a:prstGeom prst="roundRect">
            <a:avLst>
              <a:gd name="adj" fmla="val 5926"/>
            </a:avLst>
          </a:prstGeom>
          <a:solidFill>
            <a:srgbClr val="FFFFFF"/>
          </a:solidFill>
          <a:ln w="12700">
            <a:solidFill>
              <a:srgbClr val="E1E4DE"/>
            </a:solidFill>
            <a:prstDash val="solid"/>
          </a:ln>
        </p:spPr>
      </p:sp>
      <p:sp>
        <p:nvSpPr>
          <p:cNvPr id="9" name="Text 6"/>
          <p:cNvSpPr txBox="1"/>
          <p:nvPr/>
        </p:nvSpPr>
        <p:spPr>
          <a:xfrm>
            <a:off x="6629400" y="1664208"/>
            <a:ext cx="2148840" cy="640080"/>
          </a:xfrm>
          <a:prstGeom prst="rect">
            <a:avLst/>
          </a:prstGeom>
          <a:noFill/>
          <a:ln/>
        </p:spPr>
        <p:txBody>
          <a:bodyPr wrap="square" lIns="0" tIns="0" rIns="0" bIns="0" rtlCol="0" anchor="ctr"/>
          <a:lstStyle/>
          <a:p>
            <a:pPr indent="0" marL="0">
              <a:buNone/>
            </a:pPr>
            <a:r>
              <a:rPr lang="en-US" sz="3200" b="1" dirty="0">
                <a:solidFill>
                  <a:srgbClr val="1BAF7A"/>
                </a:solidFill>
                <a:latin typeface="Cambria" pitchFamily="34" charset="0"/>
                <a:ea typeface="Cambria" pitchFamily="34" charset="-122"/>
                <a:cs typeface="Cambria" pitchFamily="34" charset="-120"/>
              </a:rPr>
              <a:t>0.13→0.78</a:t>
            </a:r>
            <a:endParaRPr lang="en-US" sz="3200" dirty="0"/>
          </a:p>
        </p:txBody>
      </p:sp>
      <p:sp>
        <p:nvSpPr>
          <p:cNvPr id="10" name="Text 7"/>
          <p:cNvSpPr txBox="1"/>
          <p:nvPr/>
        </p:nvSpPr>
        <p:spPr>
          <a:xfrm>
            <a:off x="6629400" y="2286000"/>
            <a:ext cx="214884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insulin-sensitivity ρ vs truth: CGM-only → fused twin</a:t>
            </a:r>
            <a:endParaRPr lang="en-US" sz="1200" dirty="0"/>
          </a:p>
        </p:txBody>
      </p:sp>
      <p:sp>
        <p:nvSpPr>
          <p:cNvPr id="11" name="Shape 8"/>
          <p:cNvSpPr/>
          <p:nvPr/>
        </p:nvSpPr>
        <p:spPr>
          <a:xfrm>
            <a:off x="9098280" y="1554480"/>
            <a:ext cx="2514600" cy="1234440"/>
          </a:xfrm>
          <a:prstGeom prst="roundRect">
            <a:avLst>
              <a:gd name="adj" fmla="val 5926"/>
            </a:avLst>
          </a:prstGeom>
          <a:solidFill>
            <a:srgbClr val="FFFFFF"/>
          </a:solidFill>
          <a:ln w="12700">
            <a:solidFill>
              <a:srgbClr val="E1E4DE"/>
            </a:solidFill>
            <a:prstDash val="solid"/>
          </a:ln>
        </p:spPr>
      </p:sp>
      <p:sp>
        <p:nvSpPr>
          <p:cNvPr id="12" name="Text 9"/>
          <p:cNvSpPr txBox="1"/>
          <p:nvPr/>
        </p:nvSpPr>
        <p:spPr>
          <a:xfrm>
            <a:off x="9281160" y="1664208"/>
            <a:ext cx="2148840" cy="640080"/>
          </a:xfrm>
          <a:prstGeom prst="rect">
            <a:avLst/>
          </a:prstGeom>
          <a:noFill/>
          <a:ln/>
        </p:spPr>
        <p:txBody>
          <a:bodyPr wrap="square" lIns="0" tIns="0" rIns="0" bIns="0" rtlCol="0" anchor="ctr"/>
          <a:lstStyle/>
          <a:p>
            <a:pPr indent="0" marL="0">
              <a:buNone/>
            </a:pPr>
            <a:r>
              <a:rPr lang="en-US" sz="3200" b="1" dirty="0">
                <a:solidFill>
                  <a:srgbClr val="1BAF7A"/>
                </a:solidFill>
                <a:latin typeface="Cambria" pitchFamily="34" charset="0"/>
                <a:ea typeface="Cambria" pitchFamily="34" charset="-122"/>
                <a:cs typeface="Cambria" pitchFamily="34" charset="-120"/>
              </a:rPr>
              <a:t>0.45→0.72</a:t>
            </a:r>
            <a:endParaRPr lang="en-US" sz="3200" dirty="0"/>
          </a:p>
        </p:txBody>
      </p:sp>
      <p:sp>
        <p:nvSpPr>
          <p:cNvPr id="13" name="Text 10"/>
          <p:cNvSpPr txBox="1"/>
          <p:nvPr/>
        </p:nvSpPr>
        <p:spPr>
          <a:xfrm>
            <a:off x="9281160" y="2286000"/>
            <a:ext cx="214884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disposition index ρ: day 0 (EHR only) → day 7</a:t>
            </a:r>
            <a:endParaRPr lang="en-US" sz="1200" dirty="0"/>
          </a:p>
        </p:txBody>
      </p:sp>
      <p:sp>
        <p:nvSpPr>
          <p:cNvPr id="14" name="Shape 11"/>
          <p:cNvSpPr/>
          <p:nvPr/>
        </p:nvSpPr>
        <p:spPr>
          <a:xfrm>
            <a:off x="6446520" y="2926080"/>
            <a:ext cx="2514600" cy="1234440"/>
          </a:xfrm>
          <a:prstGeom prst="roundRect">
            <a:avLst>
              <a:gd name="adj" fmla="val 5926"/>
            </a:avLst>
          </a:prstGeom>
          <a:solidFill>
            <a:srgbClr val="FFFFFF"/>
          </a:solidFill>
          <a:ln w="12700">
            <a:solidFill>
              <a:srgbClr val="E1E4DE"/>
            </a:solidFill>
            <a:prstDash val="solid"/>
          </a:ln>
        </p:spPr>
      </p:sp>
      <p:sp>
        <p:nvSpPr>
          <p:cNvPr id="15" name="Text 12"/>
          <p:cNvSpPr txBox="1"/>
          <p:nvPr/>
        </p:nvSpPr>
        <p:spPr>
          <a:xfrm>
            <a:off x="6629400" y="3035808"/>
            <a:ext cx="214884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0.93</a:t>
            </a:r>
            <a:endParaRPr lang="en-US" sz="3200" dirty="0"/>
          </a:p>
        </p:txBody>
      </p:sp>
      <p:sp>
        <p:nvSpPr>
          <p:cNvPr id="16" name="Text 13"/>
          <p:cNvSpPr txBox="1"/>
          <p:nvPr/>
        </p:nvSpPr>
        <p:spPr>
          <a:xfrm>
            <a:off x="6629400" y="3657600"/>
            <a:ext cx="214884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ρ predicted vs true rice→millet effect (ML alone: n/a)</a:t>
            </a:r>
            <a:endParaRPr lang="en-US" sz="1200" dirty="0"/>
          </a:p>
        </p:txBody>
      </p:sp>
      <p:sp>
        <p:nvSpPr>
          <p:cNvPr id="17" name="Shape 14"/>
          <p:cNvSpPr/>
          <p:nvPr/>
        </p:nvSpPr>
        <p:spPr>
          <a:xfrm>
            <a:off x="9098280" y="2926080"/>
            <a:ext cx="2514600" cy="1234440"/>
          </a:xfrm>
          <a:prstGeom prst="roundRect">
            <a:avLst>
              <a:gd name="adj" fmla="val 5926"/>
            </a:avLst>
          </a:prstGeom>
          <a:solidFill>
            <a:srgbClr val="FFFFFF"/>
          </a:solidFill>
          <a:ln w="12700">
            <a:solidFill>
              <a:srgbClr val="E1E4DE"/>
            </a:solidFill>
            <a:prstDash val="solid"/>
          </a:ln>
        </p:spPr>
      </p:sp>
      <p:sp>
        <p:nvSpPr>
          <p:cNvPr id="18" name="Text 15"/>
          <p:cNvSpPr txBox="1"/>
          <p:nvPr/>
        </p:nvSpPr>
        <p:spPr>
          <a:xfrm>
            <a:off x="9281160" y="3035808"/>
            <a:ext cx="214884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×0.85</a:t>
            </a:r>
            <a:endParaRPr lang="en-US" sz="3200" dirty="0"/>
          </a:p>
        </p:txBody>
      </p:sp>
      <p:sp>
        <p:nvSpPr>
          <p:cNvPr id="19" name="Text 16"/>
          <p:cNvSpPr txBox="1"/>
          <p:nvPr/>
        </p:nvSpPr>
        <p:spPr>
          <a:xfrm>
            <a:off x="9281160" y="3657600"/>
            <a:ext cx="214884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insulin sensitivity tracked nightly during illness (×0.99 when well)</a:t>
            </a:r>
            <a:endParaRPr lang="en-US" sz="1200" dirty="0"/>
          </a:p>
        </p:txBody>
      </p:sp>
      <p:sp>
        <p:nvSpPr>
          <p:cNvPr id="20" name="Shape 17"/>
          <p:cNvSpPr/>
          <p:nvPr/>
        </p:nvSpPr>
        <p:spPr>
          <a:xfrm>
            <a:off x="6446520" y="4297680"/>
            <a:ext cx="5166360" cy="2011680"/>
          </a:xfrm>
          <a:prstGeom prst="roundRect">
            <a:avLst>
              <a:gd name="adj" fmla="val 3636"/>
            </a:avLst>
          </a:prstGeom>
          <a:solidFill>
            <a:srgbClr val="E1F5EC"/>
          </a:solidFill>
          <a:ln w="12700">
            <a:solidFill>
              <a:srgbClr val="E1E4DE"/>
            </a:solidFill>
            <a:prstDash val="solid"/>
          </a:ln>
        </p:spPr>
      </p:sp>
      <p:sp>
        <p:nvSpPr>
          <p:cNvPr id="21" name="Text 18"/>
          <p:cNvSpPr txBox="1"/>
          <p:nvPr/>
        </p:nvSpPr>
        <p:spPr>
          <a:xfrm>
            <a:off x="6647688" y="4443984"/>
            <a:ext cx="47640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Twin maturity</a:t>
            </a:r>
            <a:endParaRPr lang="en-US" sz="1600" dirty="0"/>
          </a:p>
        </p:txBody>
      </p:sp>
      <p:sp>
        <p:nvSpPr>
          <p:cNvPr id="22" name="Text 19"/>
          <p:cNvSpPr txBox="1"/>
          <p:nvPr/>
        </p:nvSpPr>
        <p:spPr>
          <a:xfrm>
            <a:off x="6647688" y="4846320"/>
            <a:ext cx="4764024"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Day 0: personalised from the EHR alone, no CGM history needed</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Days 1–7: physiology sharpens (DI ρ 0.45 → 0.56 → 0.69 → 0.69 → 0.72 → 0.72)</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After week 1: nightly re-fit tracks illness, stress and missed doses</a:t>
            </a:r>
            <a:endParaRPr lang="en-US" sz="1400" dirty="0"/>
          </a:p>
        </p:txBody>
      </p:sp>
      <p:sp>
        <p:nvSpPr>
          <p:cNvPr id="23" name="Text 2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24" name="Text 2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What-if simulator vs synthetic ground truth</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Each intervention was re-run on the hidden 'true' virtual patient · real-patient effects remain unvalidated</a:t>
            </a:r>
            <a:endParaRPr lang="en-US" sz="1600" dirty="0"/>
          </a:p>
        </p:txBody>
      </p:sp>
      <p:pic>
        <p:nvPicPr>
          <p:cNvPr id="4" name="Image 0" descr="/home/claude/MadhuTwin/docs/img/fig_whatif.png">    </p:cNvPr>
          <p:cNvPicPr>
            <a:picLocks noChangeAspect="1"/>
          </p:cNvPicPr>
          <p:nvPr/>
        </p:nvPicPr>
        <p:blipFill>
          <a:blip r:embed="rId1"/>
          <a:srcRect l="0" r="0" t="0" b="0"/>
          <a:stretch/>
        </p:blipFill>
        <p:spPr>
          <a:xfrm>
            <a:off x="548640" y="1554480"/>
            <a:ext cx="7589520" cy="278892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7589520" cy="914400"/>
        </p:xfrm>
        <a:graphic>
          <a:graphicData uri="http://schemas.openxmlformats.org/drawingml/2006/table">
            <a:tbl>
              <a:tblPr/>
              <a:tblGrid>
                <a:gridCol w="3200400"/>
                <a:gridCol w="1463040"/>
                <a:gridCol w="1463040"/>
                <a:gridCol w="1463040"/>
              </a:tblGrid>
              <a:tr h="329184">
                <a:tc>
                  <a:txBody>
                    <a:bodyPr/>
                    <a:lstStyle/>
                    <a:p>
                      <a:pPr algn="l" indent="0" marL="0">
                        <a:buNone/>
                      </a:pPr>
                      <a:r>
                        <a:rPr lang="en-US" sz="1250" b="1" dirty="0">
                          <a:solidFill>
                            <a:srgbClr val="4C5A60"/>
                          </a:solidFill>
                          <a:latin typeface="Calibri" pitchFamily="34" charset="0"/>
                          <a:ea typeface="Calibri" pitchFamily="34" charset="-122"/>
                          <a:cs typeface="Calibri" pitchFamily="34" charset="-120"/>
                        </a:rPr>
                        <a:t>Correlation with true effect</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C5A60"/>
                          </a:solidFill>
                          <a:latin typeface="Calibri" pitchFamily="34" charset="0"/>
                          <a:ea typeface="Calibri" pitchFamily="34" charset="-122"/>
                          <a:cs typeface="Calibri" pitchFamily="34" charset="-120"/>
                        </a:rPr>
                        <a:t>Personalised twin</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C5A60"/>
                          </a:solidFill>
                          <a:latin typeface="Calibri" pitchFamily="34" charset="0"/>
                          <a:ea typeface="Calibri" pitchFamily="34" charset="-122"/>
                          <a:cs typeface="Calibri" pitchFamily="34" charset="-120"/>
                        </a:rPr>
                        <a:t>EHR-only twin</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4C5A60"/>
                          </a:solidFill>
                          <a:latin typeface="Calibri" pitchFamily="34" charset="0"/>
                          <a:ea typeface="Calibri" pitchFamily="34" charset="-122"/>
                          <a:cs typeface="Calibri" pitchFamily="34" charset="-120"/>
                        </a:rPr>
                        <a:t>Population model</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5222A"/>
                          </a:solidFill>
                          <a:latin typeface="Calibri" pitchFamily="34" charset="0"/>
                          <a:ea typeface="Calibri" pitchFamily="34" charset="-122"/>
                          <a:cs typeface="Calibri" pitchFamily="34" charset="-120"/>
                        </a:rPr>
                        <a:t>20-min walk after lunch</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E7A52"/>
                          </a:solidFill>
                          <a:latin typeface="Calibri" pitchFamily="34" charset="0"/>
                          <a:ea typeface="Calibri" pitchFamily="34" charset="-122"/>
                          <a:cs typeface="Calibri" pitchFamily="34" charset="-120"/>
                        </a:rPr>
                        <a:t>0.68</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0.52</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0.43</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5222A"/>
                          </a:solidFill>
                          <a:latin typeface="Calibri" pitchFamily="34" charset="0"/>
                          <a:ea typeface="Calibri" pitchFamily="34" charset="-122"/>
                          <a:cs typeface="Calibri" pitchFamily="34" charset="-120"/>
                        </a:rPr>
                        <a:t>Rice → foxtail millet</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E7A52"/>
                          </a:solidFill>
                          <a:latin typeface="Calibri" pitchFamily="34" charset="0"/>
                          <a:ea typeface="Calibri" pitchFamily="34" charset="-122"/>
                          <a:cs typeface="Calibri" pitchFamily="34" charset="-120"/>
                        </a:rPr>
                        <a:t>0.93</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0.89</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0.89</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5222A"/>
                          </a:solidFill>
                          <a:latin typeface="Calibri" pitchFamily="34" charset="0"/>
                          <a:ea typeface="Calibri" pitchFamily="34" charset="-122"/>
                          <a:cs typeface="Calibri" pitchFamily="34" charset="-120"/>
                        </a:rPr>
                        <a:t>30% smaller portion</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E7A52"/>
                          </a:solidFill>
                          <a:latin typeface="Calibri" pitchFamily="34" charset="0"/>
                          <a:ea typeface="Calibri" pitchFamily="34" charset="-122"/>
                          <a:cs typeface="Calibri" pitchFamily="34" charset="-120"/>
                        </a:rPr>
                        <a:t>0.91</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0.85</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0.86</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15222A"/>
                          </a:solidFill>
                          <a:latin typeface="Calibri" pitchFamily="34" charset="0"/>
                          <a:ea typeface="Calibri" pitchFamily="34" charset="-122"/>
                          <a:cs typeface="Calibri" pitchFamily="34" charset="-120"/>
                        </a:rPr>
                        <a:t>Ranking patients by usual post-lunch peak</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E7A52"/>
                          </a:solidFill>
                          <a:latin typeface="Calibri" pitchFamily="34" charset="0"/>
                          <a:ea typeface="Calibri" pitchFamily="34" charset="-122"/>
                          <a:cs typeface="Calibri" pitchFamily="34" charset="-120"/>
                        </a:rPr>
                        <a:t>0.92</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E1F5EC"/>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0.72</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5222A"/>
                          </a:solidFill>
                          <a:latin typeface="Calibri" pitchFamily="34" charset="0"/>
                          <a:ea typeface="Calibri" pitchFamily="34" charset="-122"/>
                          <a:cs typeface="Calibri" pitchFamily="34" charset="-120"/>
                        </a:rPr>
                        <a:t>0.65</a:t>
                      </a:r>
                      <a:endParaRPr lang="en-US" sz="1250" dirty="0">
                        <a:latin typeface="Calibri" charset="0"/>
                        <a:ea typeface="Calibri" charset="0"/>
                        <a:cs typeface="Calibri" charset="0"/>
                      </a:endParaRPr>
                    </a:p>
                  </a:txBody>
                  <a:tcPr marL="91440" marR="91440" marT="45720" marB="45720">
                    <a:lnL w="9525" cap="flat" cmpd="sng" algn="ctr">
                      <a:solidFill>
                        <a:srgbClr val="E1E4DE"/>
                      </a:solidFill>
                      <a:prstDash val="solid"/>
                      <a:round/>
                      <a:headEnd type="none" w="med" len="med"/>
                      <a:tailEnd type="none" w="med" len="med"/>
                    </a:lnL>
                    <a:lnR w="9525" cap="flat" cmpd="sng" algn="ctr">
                      <a:solidFill>
                        <a:srgbClr val="E1E4DE"/>
                      </a:solidFill>
                      <a:prstDash val="solid"/>
                      <a:round/>
                      <a:headEnd type="none" w="med" len="med"/>
                      <a:tailEnd type="none" w="med" len="med"/>
                    </a:lnR>
                    <a:lnT w="9525" cap="flat" cmpd="sng" algn="ctr">
                      <a:solidFill>
                        <a:srgbClr val="E1E4DE"/>
                      </a:solidFill>
                      <a:prstDash val="solid"/>
                      <a:round/>
                      <a:headEnd type="none" w="med" len="med"/>
                      <a:tailEnd type="none" w="med" len="med"/>
                    </a:lnT>
                    <a:lnB w="9525" cap="flat" cmpd="sng" algn="ctr">
                      <a:solidFill>
                        <a:srgbClr val="E1E4DE"/>
                      </a:solidFill>
                      <a:prstDash val="solid"/>
                      <a:round/>
                      <a:headEnd type="none" w="med" len="med"/>
                      <a:tailEnd type="none" w="med" len="med"/>
                    </a:lnB>
                    <a:solidFill>
                      <a:srgbClr val="FFFFFF"/>
                    </a:solidFill>
                  </a:tcPr>
                </a:tc>
              </a:tr>
            </a:tbl>
          </a:graphicData>
        </a:graphic>
      </p:graphicFrame>
      <p:sp>
        <p:nvSpPr>
          <p:cNvPr id="6" name="Shape 2"/>
          <p:cNvSpPr/>
          <p:nvPr/>
        </p:nvSpPr>
        <p:spPr>
          <a:xfrm>
            <a:off x="8321040" y="1554480"/>
            <a:ext cx="3291840" cy="4663440"/>
          </a:xfrm>
          <a:prstGeom prst="roundRect">
            <a:avLst>
              <a:gd name="adj" fmla="val 2222"/>
            </a:avLst>
          </a:prstGeom>
          <a:solidFill>
            <a:srgbClr val="E1F5EC"/>
          </a:solidFill>
          <a:ln w="12700">
            <a:solidFill>
              <a:srgbClr val="E1E4DE"/>
            </a:solidFill>
            <a:prstDash val="solid"/>
          </a:ln>
        </p:spPr>
      </p:sp>
      <p:sp>
        <p:nvSpPr>
          <p:cNvPr id="7" name="Text 3"/>
          <p:cNvSpPr txBox="1"/>
          <p:nvPr/>
        </p:nvSpPr>
        <p:spPr>
          <a:xfrm>
            <a:off x="8522208" y="1700784"/>
            <a:ext cx="288950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Why it matters</a:t>
            </a:r>
            <a:endParaRPr lang="en-US" sz="1600" dirty="0"/>
          </a:p>
        </p:txBody>
      </p:sp>
      <p:sp>
        <p:nvSpPr>
          <p:cNvPr id="8" name="Text 4"/>
          <p:cNvSpPr txBox="1"/>
          <p:nvPr/>
        </p:nvSpPr>
        <p:spPr>
          <a:xfrm>
            <a:off x="8522208" y="2103120"/>
            <a:ext cx="2889504" cy="3977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Average peak drop: millet swap 53 mg/dL, smaller portion 40, walk 14</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But responses differ person to person; the personalised twin ranks who benefits most</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Stress test with different physics: rankings held, effect sizes biased</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Shown as simulated estimates for discussion, not prescriptions</a:t>
            </a:r>
            <a:endParaRPr lang="en-US" sz="1400" dirty="0"/>
          </a:p>
        </p:txBody>
      </p:sp>
      <p:sp>
        <p:nvSpPr>
          <p:cNvPr id="9"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0"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A second warning: sick days from heart and sleep data</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The brief's example of a weekly anomaly, made specific to diabetes care</a:t>
            </a:r>
            <a:endParaRPr lang="en-US" sz="1600" dirty="0"/>
          </a:p>
        </p:txBody>
      </p:sp>
      <p:pic>
        <p:nvPicPr>
          <p:cNvPr id="4" name="Image 0" descr="/home/claude/MadhuTwin/docs/img/fig_sickday.png">    </p:cNvPr>
          <p:cNvPicPr>
            <a:picLocks noChangeAspect="1"/>
          </p:cNvPicPr>
          <p:nvPr/>
        </p:nvPicPr>
        <p:blipFill>
          <a:blip r:embed="rId1"/>
          <a:srcRect l="0" r="0" t="0" b="0"/>
          <a:stretch/>
        </p:blipFill>
        <p:spPr>
          <a:xfrm>
            <a:off x="548640" y="1508760"/>
            <a:ext cx="7498080" cy="2331720"/>
          </a:xfrm>
          <a:prstGeom prst="rect">
            <a:avLst/>
          </a:prstGeom>
        </p:spPr>
      </p:pic>
      <p:sp>
        <p:nvSpPr>
          <p:cNvPr id="5" name="Shape 2"/>
          <p:cNvSpPr/>
          <p:nvPr/>
        </p:nvSpPr>
        <p:spPr>
          <a:xfrm>
            <a:off x="8229600" y="1508760"/>
            <a:ext cx="3383280" cy="1234440"/>
          </a:xfrm>
          <a:prstGeom prst="roundRect">
            <a:avLst>
              <a:gd name="adj" fmla="val 5926"/>
            </a:avLst>
          </a:prstGeom>
          <a:solidFill>
            <a:srgbClr val="FFFFFF"/>
          </a:solidFill>
          <a:ln w="12700">
            <a:solidFill>
              <a:srgbClr val="E1E4DE"/>
            </a:solidFill>
            <a:prstDash val="solid"/>
          </a:ln>
        </p:spPr>
      </p:sp>
      <p:sp>
        <p:nvSpPr>
          <p:cNvPr id="6" name="Text 3"/>
          <p:cNvSpPr txBox="1"/>
          <p:nvPr/>
        </p:nvSpPr>
        <p:spPr>
          <a:xfrm>
            <a:off x="8412480" y="1618488"/>
            <a:ext cx="3017520" cy="640080"/>
          </a:xfrm>
          <a:prstGeom prst="rect">
            <a:avLst/>
          </a:prstGeom>
          <a:noFill/>
          <a:ln/>
        </p:spPr>
        <p:txBody>
          <a:bodyPr wrap="square" lIns="0" tIns="0" rIns="0" bIns="0" rtlCol="0" anchor="ctr"/>
          <a:lstStyle/>
          <a:p>
            <a:pPr indent="0" marL="0">
              <a:buNone/>
            </a:pPr>
            <a:r>
              <a:rPr lang="en-US" sz="3200" b="1" dirty="0">
                <a:solidFill>
                  <a:srgbClr val="1BAF7A"/>
                </a:solidFill>
                <a:latin typeface="Cambria" pitchFamily="34" charset="0"/>
                <a:ea typeface="Cambria" pitchFamily="34" charset="-122"/>
                <a:cs typeface="Cambria" pitchFamily="34" charset="-120"/>
              </a:rPr>
              <a:t>0.97</a:t>
            </a:r>
            <a:endParaRPr lang="en-US" sz="3200" dirty="0"/>
          </a:p>
        </p:txBody>
      </p:sp>
      <p:sp>
        <p:nvSpPr>
          <p:cNvPr id="7" name="Text 4"/>
          <p:cNvSpPr txBox="1"/>
          <p:nvPr/>
        </p:nvSpPr>
        <p:spPr>
          <a:xfrm>
            <a:off x="8412480" y="2240280"/>
            <a:ext cx="301752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AUROC for illness days, with no labelled training data</a:t>
            </a:r>
            <a:endParaRPr lang="en-US" sz="1200" dirty="0"/>
          </a:p>
        </p:txBody>
      </p:sp>
      <p:sp>
        <p:nvSpPr>
          <p:cNvPr id="8" name="Shape 5"/>
          <p:cNvSpPr/>
          <p:nvPr/>
        </p:nvSpPr>
        <p:spPr>
          <a:xfrm>
            <a:off x="8229600" y="2834640"/>
            <a:ext cx="3383280" cy="1234440"/>
          </a:xfrm>
          <a:prstGeom prst="roundRect">
            <a:avLst>
              <a:gd name="adj" fmla="val 5926"/>
            </a:avLst>
          </a:prstGeom>
          <a:solidFill>
            <a:srgbClr val="FFFFFF"/>
          </a:solidFill>
          <a:ln w="12700">
            <a:solidFill>
              <a:srgbClr val="E1E4DE"/>
            </a:solidFill>
            <a:prstDash val="solid"/>
          </a:ln>
        </p:spPr>
      </p:sp>
      <p:sp>
        <p:nvSpPr>
          <p:cNvPr id="9" name="Text 6"/>
          <p:cNvSpPr txBox="1"/>
          <p:nvPr/>
        </p:nvSpPr>
        <p:spPr>
          <a:xfrm>
            <a:off x="8412480" y="2944368"/>
            <a:ext cx="3017520" cy="64008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78%</a:t>
            </a:r>
            <a:endParaRPr lang="en-US" sz="3200" dirty="0"/>
          </a:p>
        </p:txBody>
      </p:sp>
      <p:sp>
        <p:nvSpPr>
          <p:cNvPr id="10" name="Text 7"/>
          <p:cNvSpPr txBox="1"/>
          <p:nvPr/>
        </p:nvSpPr>
        <p:spPr>
          <a:xfrm>
            <a:off x="8412480" y="3566160"/>
            <a:ext cx="3017520" cy="438912"/>
          </a:xfrm>
          <a:prstGeom prst="rect">
            <a:avLst/>
          </a:prstGeom>
          <a:noFill/>
          <a:ln/>
        </p:spPr>
        <p:txBody>
          <a:bodyPr wrap="square" lIns="0" tIns="0" rIns="0" bIns="0" rtlCol="0" anchor="t"/>
          <a:lstStyle/>
          <a:p>
            <a:pPr indent="0" marL="0">
              <a:buNone/>
            </a:pPr>
            <a:r>
              <a:rPr lang="en-US" sz="1200" dirty="0">
                <a:solidFill>
                  <a:srgbClr val="4C5A60"/>
                </a:solidFill>
                <a:latin typeface="Calibri" pitchFamily="34" charset="0"/>
                <a:ea typeface="Calibri" pitchFamily="34" charset="-122"/>
                <a:cs typeface="Calibri" pitchFamily="34" charset="-120"/>
              </a:rPr>
              <a:t>of illness days flagged; 0.12 false flags per patient-week</a:t>
            </a:r>
            <a:endParaRPr lang="en-US" sz="1200" dirty="0"/>
          </a:p>
        </p:txBody>
      </p:sp>
      <p:sp>
        <p:nvSpPr>
          <p:cNvPr id="11" name="Shape 8"/>
          <p:cNvSpPr/>
          <p:nvPr/>
        </p:nvSpPr>
        <p:spPr>
          <a:xfrm>
            <a:off x="548640" y="4251960"/>
            <a:ext cx="11064240" cy="2057400"/>
          </a:xfrm>
          <a:prstGeom prst="roundRect">
            <a:avLst>
              <a:gd name="adj" fmla="val 3556"/>
            </a:avLst>
          </a:prstGeom>
          <a:solidFill>
            <a:srgbClr val="FFFFFF"/>
          </a:solidFill>
          <a:ln w="12700">
            <a:solidFill>
              <a:srgbClr val="E1E4DE"/>
            </a:solidFill>
            <a:prstDash val="solid"/>
          </a:ln>
        </p:spPr>
      </p:sp>
      <p:sp>
        <p:nvSpPr>
          <p:cNvPr id="12" name="Text 9"/>
          <p:cNvSpPr txBox="1"/>
          <p:nvPr/>
        </p:nvSpPr>
        <p:spPr>
          <a:xfrm>
            <a:off x="749808" y="4398264"/>
            <a:ext cx="1066190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How it works and why it matters</a:t>
            </a:r>
            <a:endParaRPr lang="en-US" sz="1600" dirty="0"/>
          </a:p>
        </p:txBody>
      </p:sp>
      <p:sp>
        <p:nvSpPr>
          <p:cNvPr id="13" name="Text 10"/>
          <p:cNvSpPr txBox="1"/>
          <p:nvPr/>
        </p:nvSpPr>
        <p:spPr>
          <a:xfrm>
            <a:off x="749808" y="4800600"/>
            <a:ext cx="10661904"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Every morning, last night's sleeping heart rate, HRV, sleep and yesterday's activity are compared with the patient's own previous 7 nights (personal z-scores)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Flagged days ran hotter: 54% of the rest of the day above 180 mg/dL vs 37% otherwise</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Triggers 'sick-day rules': check glucose more often, fluids, review SGLT2 inhibitor / metformin if dehydrated, call the doctor</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Caveat: illness effects in the simulator are clear-cut; real-world infection detection from wearables is weaker but well documented</a:t>
            </a:r>
            <a:endParaRPr lang="en-US" sz="1400" dirty="0"/>
          </a:p>
        </p:txBody>
      </p:sp>
      <p:sp>
        <p:nvSpPr>
          <p:cNvPr id="14"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5" name="Text 1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The doctor's console</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Static web app: runs offline in any browser, no install</a:t>
            </a:r>
            <a:endParaRPr lang="en-US" sz="1600" dirty="0"/>
          </a:p>
        </p:txBody>
      </p:sp>
      <p:pic>
        <p:nvPicPr>
          <p:cNvPr id="4" name="Image 0" descr="/home/claude/MadhuTwin/docs/img/console_now.png">    </p:cNvPr>
          <p:cNvPicPr>
            <a:picLocks noChangeAspect="1"/>
          </p:cNvPicPr>
          <p:nvPr/>
        </p:nvPicPr>
        <p:blipFill>
          <a:blip r:embed="rId1"/>
          <a:srcRect l="0" r="0" t="0" b="0"/>
          <a:stretch/>
        </p:blipFill>
        <p:spPr>
          <a:xfrm>
            <a:off x="548640" y="1463040"/>
            <a:ext cx="7498080" cy="4498848"/>
          </a:xfrm>
          <a:prstGeom prst="rect">
            <a:avLst/>
          </a:prstGeom>
        </p:spPr>
      </p:pic>
      <p:sp>
        <p:nvSpPr>
          <p:cNvPr id="5" name="Shape 2"/>
          <p:cNvSpPr/>
          <p:nvPr/>
        </p:nvSpPr>
        <p:spPr>
          <a:xfrm>
            <a:off x="8229600" y="1463040"/>
            <a:ext cx="3383280" cy="4498848"/>
          </a:xfrm>
          <a:prstGeom prst="roundRect">
            <a:avLst>
              <a:gd name="adj" fmla="val 2162"/>
            </a:avLst>
          </a:prstGeom>
          <a:solidFill>
            <a:srgbClr val="FFFFFF"/>
          </a:solidFill>
          <a:ln w="12700">
            <a:solidFill>
              <a:srgbClr val="E1E4DE"/>
            </a:solidFill>
            <a:prstDash val="solid"/>
          </a:ln>
        </p:spPr>
      </p:sp>
      <p:sp>
        <p:nvSpPr>
          <p:cNvPr id="6" name="Text 3"/>
          <p:cNvSpPr txBox="1"/>
          <p:nvPr/>
        </p:nvSpPr>
        <p:spPr>
          <a:xfrm>
            <a:off x="8430768" y="1609344"/>
            <a:ext cx="298094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A doctor can</a:t>
            </a:r>
            <a:endParaRPr lang="en-US" sz="1600" dirty="0"/>
          </a:p>
        </p:txBody>
      </p:sp>
      <p:sp>
        <p:nvSpPr>
          <p:cNvPr id="7" name="Text 4"/>
          <p:cNvSpPr txBox="1"/>
          <p:nvPr/>
        </p:nvSpPr>
        <p:spPr>
          <a:xfrm>
            <a:off x="8430768" y="2011680"/>
            <a:ext cx="2980944" cy="381304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Who: triage by risk × severity × confidence × time to event</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When: “spike likely in ~1 h 20 m, peak ~230 mg/dL”, with confidence</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Why: reasons in plain words, with % share</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What to do: one suggested action</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What if: simulate it → peak, time &gt;180, event probability</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Twin state today vs the patient's own baseline</a:t>
            </a:r>
            <a:endParaRPr lang="en-US" sz="1400" dirty="0"/>
          </a:p>
        </p:txBody>
      </p:sp>
      <p:sp>
        <p:nvSpPr>
          <p:cNvPr id="8" name="Text 5"/>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9" name="Text 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Designed with a clinic deployment pathway</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Research prototype · interoperable outputs · offline-capable · patient-facing</a:t>
            </a:r>
            <a:endParaRPr lang="en-US" sz="1600" dirty="0"/>
          </a:p>
        </p:txBody>
      </p:sp>
      <p:pic>
        <p:nvPicPr>
          <p:cNvPr id="4" name="Image 0" descr="/home/claude/MadhuTwin/docs/img/console_app.png">    </p:cNvPr>
          <p:cNvPicPr>
            <a:picLocks noChangeAspect="1"/>
          </p:cNvPicPr>
          <p:nvPr/>
        </p:nvPicPr>
        <p:blipFill>
          <a:blip r:embed="rId1"/>
          <a:srcRect l="0" r="0" t="0" b="0"/>
          <a:stretch/>
        </p:blipFill>
        <p:spPr>
          <a:xfrm>
            <a:off x="548640" y="1463040"/>
            <a:ext cx="3931920" cy="4846320"/>
          </a:xfrm>
          <a:prstGeom prst="rect">
            <a:avLst/>
          </a:prstGeom>
        </p:spPr>
      </p:pic>
      <p:sp>
        <p:nvSpPr>
          <p:cNvPr id="5" name="Shape 2"/>
          <p:cNvSpPr/>
          <p:nvPr/>
        </p:nvSpPr>
        <p:spPr>
          <a:xfrm>
            <a:off x="4709160" y="1463040"/>
            <a:ext cx="3337560" cy="2331720"/>
          </a:xfrm>
          <a:prstGeom prst="roundRect">
            <a:avLst>
              <a:gd name="adj" fmla="val 3137"/>
            </a:avLst>
          </a:prstGeom>
          <a:solidFill>
            <a:srgbClr val="F5E9D2"/>
          </a:solidFill>
          <a:ln w="12700">
            <a:solidFill>
              <a:srgbClr val="E1E4DE"/>
            </a:solidFill>
            <a:prstDash val="solid"/>
          </a:ln>
        </p:spPr>
      </p:sp>
      <p:sp>
        <p:nvSpPr>
          <p:cNvPr id="6" name="Text 3"/>
          <p:cNvSpPr txBox="1"/>
          <p:nvPr/>
        </p:nvSpPr>
        <p:spPr>
          <a:xfrm>
            <a:off x="4910328" y="1609344"/>
            <a:ext cx="29352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Patient app nudges</a:t>
            </a:r>
            <a:endParaRPr lang="en-US" sz="1600" dirty="0"/>
          </a:p>
        </p:txBody>
      </p:sp>
      <p:sp>
        <p:nvSpPr>
          <p:cNvPr id="7" name="Text 4"/>
          <p:cNvSpPr txBox="1"/>
          <p:nvPr/>
        </p:nvSpPr>
        <p:spPr>
          <a:xfrm>
            <a:off x="4910328" y="2011680"/>
            <a:ext cx="2935224"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One message, one action, before the usual meal</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English and हिन्दी today; strings table for more languages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Sick-day banner with 'call doctor'</a:t>
            </a:r>
            <a:endParaRPr lang="en-US" sz="1400" dirty="0"/>
          </a:p>
        </p:txBody>
      </p:sp>
      <p:sp>
        <p:nvSpPr>
          <p:cNvPr id="8" name="Shape 5"/>
          <p:cNvSpPr/>
          <p:nvPr/>
        </p:nvSpPr>
        <p:spPr>
          <a:xfrm>
            <a:off x="8275320" y="1463040"/>
            <a:ext cx="3337560" cy="2331720"/>
          </a:xfrm>
          <a:prstGeom prst="roundRect">
            <a:avLst>
              <a:gd name="adj" fmla="val 3137"/>
            </a:avLst>
          </a:prstGeom>
          <a:solidFill>
            <a:srgbClr val="E3EEFB"/>
          </a:solidFill>
          <a:ln w="12700">
            <a:solidFill>
              <a:srgbClr val="E1E4DE"/>
            </a:solidFill>
            <a:prstDash val="solid"/>
          </a:ln>
        </p:spPr>
      </p:sp>
      <p:sp>
        <p:nvSpPr>
          <p:cNvPr id="9" name="Text 6"/>
          <p:cNvSpPr txBox="1"/>
          <p:nvPr/>
        </p:nvSpPr>
        <p:spPr>
          <a:xfrm>
            <a:off x="8476488" y="1609344"/>
            <a:ext cx="29352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FHIR R4 sample output</a:t>
            </a:r>
            <a:endParaRPr lang="en-US" sz="1600" dirty="0"/>
          </a:p>
        </p:txBody>
      </p:sp>
      <p:sp>
        <p:nvSpPr>
          <p:cNvPr id="10" name="Text 7"/>
          <p:cNvSpPr txBox="1"/>
          <p:nvPr/>
        </p:nvSpPr>
        <p:spPr>
          <a:xfrm>
            <a:off x="8476488" y="2011680"/>
            <a:ext cx="2935224"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Bundle: RiskAssessment + Observations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Pseudonymous Patient (DPDP data minimisation)</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ABDM integration: proposed production path</a:t>
            </a:r>
            <a:endParaRPr lang="en-US" sz="1400" dirty="0"/>
          </a:p>
        </p:txBody>
      </p:sp>
      <p:sp>
        <p:nvSpPr>
          <p:cNvPr id="11" name="Shape 8"/>
          <p:cNvSpPr/>
          <p:nvPr/>
        </p:nvSpPr>
        <p:spPr>
          <a:xfrm>
            <a:off x="4709160" y="3977640"/>
            <a:ext cx="3337560" cy="2331720"/>
          </a:xfrm>
          <a:prstGeom prst="roundRect">
            <a:avLst>
              <a:gd name="adj" fmla="val 3137"/>
            </a:avLst>
          </a:prstGeom>
          <a:solidFill>
            <a:srgbClr val="E1F5EC"/>
          </a:solidFill>
          <a:ln w="12700">
            <a:solidFill>
              <a:srgbClr val="E1E4DE"/>
            </a:solidFill>
            <a:prstDash val="solid"/>
          </a:ln>
        </p:spPr>
      </p:sp>
      <p:sp>
        <p:nvSpPr>
          <p:cNvPr id="12" name="Text 9"/>
          <p:cNvSpPr txBox="1"/>
          <p:nvPr/>
        </p:nvSpPr>
        <p:spPr>
          <a:xfrm>
            <a:off x="4910328" y="4123944"/>
            <a:ext cx="29352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Twin as a service</a:t>
            </a:r>
            <a:endParaRPr lang="en-US" sz="1600" dirty="0"/>
          </a:p>
        </p:txBody>
      </p:sp>
      <p:sp>
        <p:nvSpPr>
          <p:cNvPr id="13" name="Text 10"/>
          <p:cNvSpPr txBox="1"/>
          <p:nvPr/>
        </p:nvSpPr>
        <p:spPr>
          <a:xfrm>
            <a:off x="4910328" y="4526280"/>
            <a:ext cx="2935224"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REST API (FastAPI): risk, forecast, what-if, FHIR</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Docker image serves API + console</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Runs on a laptop CPU; no GPU or cloud needed</a:t>
            </a:r>
            <a:endParaRPr lang="en-US" sz="1400" dirty="0"/>
          </a:p>
        </p:txBody>
      </p:sp>
      <p:sp>
        <p:nvSpPr>
          <p:cNvPr id="14" name="Shape 11"/>
          <p:cNvSpPr/>
          <p:nvPr/>
        </p:nvSpPr>
        <p:spPr>
          <a:xfrm>
            <a:off x="8275320" y="3977640"/>
            <a:ext cx="3337560" cy="2331720"/>
          </a:xfrm>
          <a:prstGeom prst="roundRect">
            <a:avLst>
              <a:gd name="adj" fmla="val 3137"/>
            </a:avLst>
          </a:prstGeom>
          <a:solidFill>
            <a:srgbClr val="FFFFFF"/>
          </a:solidFill>
          <a:ln w="12700">
            <a:solidFill>
              <a:srgbClr val="E1E4DE"/>
            </a:solidFill>
            <a:prstDash val="solid"/>
          </a:ln>
        </p:spPr>
      </p:sp>
      <p:sp>
        <p:nvSpPr>
          <p:cNvPr id="15" name="Text 12"/>
          <p:cNvSpPr txBox="1"/>
          <p:nvPr/>
        </p:nvSpPr>
        <p:spPr>
          <a:xfrm>
            <a:off x="8476488" y="4123944"/>
            <a:ext cx="293522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Engineering quality</a:t>
            </a:r>
            <a:endParaRPr lang="en-US" sz="1600" dirty="0"/>
          </a:p>
        </p:txBody>
      </p:sp>
      <p:sp>
        <p:nvSpPr>
          <p:cNvPr id="16" name="Text 13"/>
          <p:cNvSpPr txBox="1"/>
          <p:nvPr/>
        </p:nvSpPr>
        <p:spPr>
          <a:xfrm>
            <a:off x="8476488" y="4526280"/>
            <a:ext cx="2935224"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28 automated tests, none skipped: alert matching, API contract, leakage</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GitHub Actions CI</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One command: python run.py</a:t>
            </a:r>
            <a:endParaRPr lang="en-US" sz="1400" dirty="0"/>
          </a:p>
        </p:txBody>
      </p:sp>
      <p:sp>
        <p:nvSpPr>
          <p:cNvPr id="17" name="Text 14"/>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8" name="Text 15"/>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Explainable, private, honest about limits</a:t>
            </a:r>
            <a:endParaRPr lang="en-US" sz="3200" dirty="0"/>
          </a:p>
        </p:txBody>
      </p:sp>
      <p:pic>
        <p:nvPicPr>
          <p:cNvPr id="3" name="Image 0" descr="/home/claude/MadhuTwin/docs/img/fig_shap.png">    </p:cNvPr>
          <p:cNvPicPr>
            <a:picLocks noChangeAspect="1"/>
          </p:cNvPicPr>
          <p:nvPr/>
        </p:nvPicPr>
        <p:blipFill>
          <a:blip r:embed="rId1"/>
          <a:srcRect l="0" r="0" t="0" b="0"/>
          <a:stretch/>
        </p:blipFill>
        <p:spPr>
          <a:xfrm>
            <a:off x="548640" y="1234440"/>
            <a:ext cx="5120640" cy="3474720"/>
          </a:xfrm>
          <a:prstGeom prst="rect">
            <a:avLst/>
          </a:prstGeom>
        </p:spPr>
      </p:pic>
      <p:sp>
        <p:nvSpPr>
          <p:cNvPr id="4" name="Shape 1"/>
          <p:cNvSpPr/>
          <p:nvPr/>
        </p:nvSpPr>
        <p:spPr>
          <a:xfrm>
            <a:off x="5943600" y="1234440"/>
            <a:ext cx="2743200" cy="4892040"/>
          </a:xfrm>
          <a:prstGeom prst="roundRect">
            <a:avLst>
              <a:gd name="adj" fmla="val 2667"/>
            </a:avLst>
          </a:prstGeom>
          <a:solidFill>
            <a:srgbClr val="FFFFFF"/>
          </a:solidFill>
          <a:ln w="12700">
            <a:solidFill>
              <a:srgbClr val="E1E4DE"/>
            </a:solidFill>
            <a:prstDash val="solid"/>
          </a:ln>
        </p:spPr>
      </p:sp>
      <p:sp>
        <p:nvSpPr>
          <p:cNvPr id="5" name="Text 2"/>
          <p:cNvSpPr txBox="1"/>
          <p:nvPr/>
        </p:nvSpPr>
        <p:spPr>
          <a:xfrm>
            <a:off x="6144768" y="1380744"/>
            <a:ext cx="234086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Privacy &amp; compliance</a:t>
            </a:r>
            <a:endParaRPr lang="en-US" sz="1600" dirty="0"/>
          </a:p>
        </p:txBody>
      </p:sp>
      <p:sp>
        <p:nvSpPr>
          <p:cNvPr id="6" name="Text 3"/>
          <p:cNvSpPr txBox="1"/>
          <p:nvPr/>
        </p:nvSpPr>
        <p:spPr>
          <a:xfrm>
            <a:off x="6144768" y="1783080"/>
            <a:ext cx="2340864" cy="4206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Synthetic patients + open de-identified cohorts; no PHI anywhere</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FHIR R4 sample output; ABDM integration is a proposed path</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Designed for on-premise inference; consent-first under the DPDP Act 2023</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Model card and decision-support labelling in the console</a:t>
            </a:r>
            <a:endParaRPr lang="en-US" sz="1400" dirty="0"/>
          </a:p>
        </p:txBody>
      </p:sp>
      <p:sp>
        <p:nvSpPr>
          <p:cNvPr id="7" name="Shape 4"/>
          <p:cNvSpPr/>
          <p:nvPr/>
        </p:nvSpPr>
        <p:spPr>
          <a:xfrm>
            <a:off x="8869680" y="1234440"/>
            <a:ext cx="2743200" cy="4892040"/>
          </a:xfrm>
          <a:prstGeom prst="roundRect">
            <a:avLst>
              <a:gd name="adj" fmla="val 2667"/>
            </a:avLst>
          </a:prstGeom>
          <a:solidFill>
            <a:srgbClr val="FDF2EE"/>
          </a:solidFill>
          <a:ln w="12700">
            <a:solidFill>
              <a:srgbClr val="E1E4DE"/>
            </a:solidFill>
            <a:prstDash val="solid"/>
          </a:ln>
        </p:spPr>
      </p:sp>
      <p:sp>
        <p:nvSpPr>
          <p:cNvPr id="8" name="Text 5"/>
          <p:cNvSpPr txBox="1"/>
          <p:nvPr/>
        </p:nvSpPr>
        <p:spPr>
          <a:xfrm>
            <a:off x="9070848" y="1380744"/>
            <a:ext cx="234086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Limitations</a:t>
            </a:r>
            <a:endParaRPr lang="en-US" sz="1600" dirty="0"/>
          </a:p>
        </p:txBody>
      </p:sp>
      <p:sp>
        <p:nvSpPr>
          <p:cNvPr id="9" name="Text 6"/>
          <p:cNvSpPr txBox="1"/>
          <p:nvPr/>
        </p:nvSpPr>
        <p:spPr>
          <a:xfrm>
            <a:off x="9070848" y="1783080"/>
            <a:ext cx="2340864" cy="4206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Main results are synthetic; open-cohort check: CGM + labs only, 10 with T2D; replayed data, no live devices</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Twin and simulator share equations: fidelity is an upper bound; what-if sizes biased under mismatch</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Twin adds little AUROC once 200+ patients exist</a:t>
            </a:r>
            <a:endParaRPr lang="en-US" sz="1400" dirty="0"/>
          </a:p>
          <a:p>
            <a:pPr marL="342900" indent="-342900">
              <a:spcAft>
                <a:spcPts val="600"/>
              </a:spcAft>
              <a:buSzPct val="100000"/>
              <a:buChar char="•"/>
            </a:pPr>
            <a:r>
              <a:rPr lang="en-US" sz="1400" dirty="0">
                <a:solidFill>
                  <a:srgbClr val="4C5A60"/>
                </a:solidFill>
                <a:latin typeface="Calibri" pitchFamily="34" charset="0"/>
                <a:ea typeface="Calibri" pitchFamily="34" charset="-122"/>
                <a:cs typeface="Calibri" pitchFamily="34" charset="-120"/>
              </a:rPr>
              <a:t>Not a medical device; decision support only</a:t>
            </a:r>
            <a:endParaRPr lang="en-US" sz="1400" dirty="0"/>
          </a:p>
        </p:txBody>
      </p:sp>
      <p:sp>
        <p:nvSpPr>
          <p:cNvPr id="10" name="Text 7"/>
          <p:cNvSpPr txBox="1"/>
          <p:nvPr/>
        </p:nvSpPr>
        <p:spPr>
          <a:xfrm>
            <a:off x="548640" y="4846320"/>
            <a:ext cx="5120640" cy="1280160"/>
          </a:xfrm>
          <a:prstGeom prst="rect">
            <a:avLst/>
          </a:prstGeom>
          <a:noFill/>
          <a:ln/>
        </p:spPr>
        <p:txBody>
          <a:bodyPr wrap="square" lIns="0" tIns="0" rIns="0" bIns="0" rtlCol="0" anchor="t"/>
          <a:lstStyle/>
          <a:p>
            <a:pPr indent="0" marL="0">
              <a:buNone/>
            </a:pPr>
            <a:r>
              <a:rPr lang="en-US" sz="1300" dirty="0">
                <a:solidFill>
                  <a:srgbClr val="4C5A60"/>
                </a:solidFill>
                <a:latin typeface="Calibri" pitchFamily="34" charset="0"/>
                <a:ea typeface="Calibri" pitchFamily="34" charset="-122"/>
                <a:cs typeface="Calibri" pitchFamily="34" charset="-120"/>
              </a:rPr>
              <a:t>Top drivers of risk (SHAP attributions, not causes): the patient's own time-of-day spike history, heart rate relative to baseline, time of day, and the twin's projected peak including the usual next meal.</a:t>
            </a:r>
            <a:endParaRPr lang="en-US" sz="13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12" name="Text 9"/>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9"/>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685800"/>
          </a:xfrm>
          <a:prstGeom prst="rect">
            <a:avLst/>
          </a:prstGeom>
          <a:noFill/>
          <a:ln/>
        </p:spPr>
        <p:txBody>
          <a:bodyPr wrap="square" lIns="0" tIns="0" rIns="0" bIns="0" rtlCol="0" anchor="ctr"/>
          <a:lstStyle/>
          <a:p>
            <a:pPr indent="0" marL="0">
              <a:buNone/>
            </a:pPr>
            <a:r>
              <a:rPr lang="en-US" sz="3200" b="1" dirty="0">
                <a:solidFill>
                  <a:srgbClr val="15222A"/>
                </a:solidFill>
                <a:latin typeface="Cambria" pitchFamily="34" charset="0"/>
                <a:ea typeface="Cambria" pitchFamily="34" charset="-122"/>
                <a:cs typeface="Cambria" pitchFamily="34" charset="-120"/>
              </a:rPr>
              <a:t>From prototype to clinic</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dirty="0">
                <a:solidFill>
                  <a:srgbClr val="4C5A60"/>
                </a:solidFill>
                <a:latin typeface="Calibri" pitchFamily="34" charset="0"/>
                <a:ea typeface="Calibri" pitchFamily="34" charset="-122"/>
                <a:cs typeface="Calibri" pitchFamily="34" charset="-120"/>
              </a:rPr>
              <a:t>What we would build next</a:t>
            </a:r>
            <a:endParaRPr lang="en-US" sz="1600" dirty="0"/>
          </a:p>
        </p:txBody>
      </p:sp>
      <p:sp>
        <p:nvSpPr>
          <p:cNvPr id="4" name="Shape 2"/>
          <p:cNvSpPr/>
          <p:nvPr/>
        </p:nvSpPr>
        <p:spPr>
          <a:xfrm>
            <a:off x="548640" y="1737360"/>
            <a:ext cx="2606040" cy="3200400"/>
          </a:xfrm>
          <a:prstGeom prst="roundRect">
            <a:avLst>
              <a:gd name="adj" fmla="val 3509"/>
            </a:avLst>
          </a:prstGeom>
          <a:solidFill>
            <a:srgbClr val="E1F5EC"/>
          </a:solidFill>
          <a:ln w="12700">
            <a:solidFill>
              <a:srgbClr val="E1E4DE"/>
            </a:solidFill>
            <a:prstDash val="solid"/>
          </a:ln>
        </p:spPr>
      </p:sp>
      <p:sp>
        <p:nvSpPr>
          <p:cNvPr id="5" name="Text 3"/>
          <p:cNvSpPr txBox="1"/>
          <p:nvPr/>
        </p:nvSpPr>
        <p:spPr>
          <a:xfrm>
            <a:off x="731520" y="1874520"/>
            <a:ext cx="2286000" cy="457200"/>
          </a:xfrm>
          <a:prstGeom prst="rect">
            <a:avLst/>
          </a:prstGeom>
          <a:noFill/>
          <a:ln/>
        </p:spPr>
        <p:txBody>
          <a:bodyPr wrap="square" lIns="0" tIns="0" rIns="0" bIns="0" rtlCol="0" anchor="ctr"/>
          <a:lstStyle/>
          <a:p>
            <a:pPr indent="0" marL="0">
              <a:buNone/>
            </a:pPr>
            <a:r>
              <a:rPr lang="en-US" sz="2000" b="1" dirty="0">
                <a:solidFill>
                  <a:srgbClr val="15222A"/>
                </a:solidFill>
                <a:latin typeface="Cambria" pitchFamily="34" charset="0"/>
                <a:ea typeface="Cambria" pitchFamily="34" charset="-122"/>
                <a:cs typeface="Cambria" pitchFamily="34" charset="-120"/>
              </a:rPr>
              <a:t>Now</a:t>
            </a:r>
            <a:endParaRPr lang="en-US" sz="2000" dirty="0"/>
          </a:p>
        </p:txBody>
      </p:sp>
      <p:sp>
        <p:nvSpPr>
          <p:cNvPr id="6" name="Text 4"/>
          <p:cNvSpPr txBox="1"/>
          <p:nvPr/>
        </p:nvSpPr>
        <p:spPr>
          <a:xfrm>
            <a:off x="731520" y="2423160"/>
            <a:ext cx="2286000" cy="2377440"/>
          </a:xfrm>
          <a:prstGeom prst="rect">
            <a:avLst/>
          </a:prstGeom>
          <a:noFill/>
          <a:ln/>
        </p:spPr>
        <p:txBody>
          <a:bodyPr wrap="square" lIns="0" tIns="0" rIns="0" bIns="0" rtlCol="0" anchor="t"/>
          <a:lstStyle/>
          <a:p>
            <a:pPr indent="0" marL="0">
              <a:buNone/>
            </a:pPr>
            <a:r>
              <a:rPr lang="en-US" sz="1350" dirty="0">
                <a:solidFill>
                  <a:srgbClr val="4C5A60"/>
                </a:solidFill>
                <a:latin typeface="Calibri" pitchFamily="34" charset="0"/>
                <a:ea typeface="Calibri" pitchFamily="34" charset="-122"/>
                <a:cs typeface="Calibri" pitchFamily="34" charset="-120"/>
              </a:rPr>
              <a:t>300 synthetic patients; 265-person open-cohort check; nightly twin; console, patient app, FHIR sample, API, CI</a:t>
            </a:r>
            <a:endParaRPr lang="en-US" sz="1350" dirty="0"/>
          </a:p>
        </p:txBody>
      </p:sp>
      <p:sp>
        <p:nvSpPr>
          <p:cNvPr id="7" name="Shape 5"/>
          <p:cNvSpPr/>
          <p:nvPr/>
        </p:nvSpPr>
        <p:spPr>
          <a:xfrm>
            <a:off x="3337560" y="1737360"/>
            <a:ext cx="2606040" cy="3200400"/>
          </a:xfrm>
          <a:prstGeom prst="roundRect">
            <a:avLst>
              <a:gd name="adj" fmla="val 3509"/>
            </a:avLst>
          </a:prstGeom>
          <a:solidFill>
            <a:srgbClr val="E3EEFB"/>
          </a:solidFill>
          <a:ln w="12700">
            <a:solidFill>
              <a:srgbClr val="E1E4DE"/>
            </a:solidFill>
            <a:prstDash val="solid"/>
          </a:ln>
        </p:spPr>
      </p:sp>
      <p:sp>
        <p:nvSpPr>
          <p:cNvPr id="8" name="Text 6"/>
          <p:cNvSpPr txBox="1"/>
          <p:nvPr/>
        </p:nvSpPr>
        <p:spPr>
          <a:xfrm>
            <a:off x="3520440" y="1874520"/>
            <a:ext cx="2286000" cy="457200"/>
          </a:xfrm>
          <a:prstGeom prst="rect">
            <a:avLst/>
          </a:prstGeom>
          <a:noFill/>
          <a:ln/>
        </p:spPr>
        <p:txBody>
          <a:bodyPr wrap="square" lIns="0" tIns="0" rIns="0" bIns="0" rtlCol="0" anchor="ctr"/>
          <a:lstStyle/>
          <a:p>
            <a:pPr indent="0" marL="0">
              <a:buNone/>
            </a:pPr>
            <a:r>
              <a:rPr lang="en-US" sz="2000" b="1" dirty="0">
                <a:solidFill>
                  <a:srgbClr val="15222A"/>
                </a:solidFill>
                <a:latin typeface="Cambria" pitchFamily="34" charset="0"/>
                <a:ea typeface="Cambria" pitchFamily="34" charset="-122"/>
                <a:cs typeface="Cambria" pitchFamily="34" charset="-120"/>
              </a:rPr>
              <a:t>Next 3 months</a:t>
            </a:r>
            <a:endParaRPr lang="en-US" sz="2000" dirty="0"/>
          </a:p>
        </p:txBody>
      </p:sp>
      <p:sp>
        <p:nvSpPr>
          <p:cNvPr id="9" name="Text 7"/>
          <p:cNvSpPr txBox="1"/>
          <p:nvPr/>
        </p:nvSpPr>
        <p:spPr>
          <a:xfrm>
            <a:off x="3520440" y="2423160"/>
            <a:ext cx="2286000" cy="2377440"/>
          </a:xfrm>
          <a:prstGeom prst="rect">
            <a:avLst/>
          </a:prstGeom>
          <a:noFill/>
          <a:ln/>
        </p:spPr>
        <p:txBody>
          <a:bodyPr wrap="square" lIns="0" tIns="0" rIns="0" bIns="0" rtlCol="0" anchor="t"/>
          <a:lstStyle/>
          <a:p>
            <a:pPr indent="0" marL="0">
              <a:buNone/>
            </a:pPr>
            <a:r>
              <a:rPr lang="en-US" sz="1350" dirty="0">
                <a:solidFill>
                  <a:srgbClr val="4C5A60"/>
                </a:solidFill>
                <a:latin typeface="Calibri" pitchFamily="34" charset="0"/>
                <a:ea typeface="Calibri" pitchFamily="34" charset="-122"/>
                <a:cs typeface="Calibri" pitchFamily="34" charset="-120"/>
              </a:rPr>
              <a:t>Validate on an Indian CGM cohort with meals and wearables; hypoglycaemia risk; shadow-mode run in one clinic</a:t>
            </a:r>
            <a:endParaRPr lang="en-US" sz="1350" dirty="0"/>
          </a:p>
        </p:txBody>
      </p:sp>
      <p:sp>
        <p:nvSpPr>
          <p:cNvPr id="10" name="Shape 8"/>
          <p:cNvSpPr/>
          <p:nvPr/>
        </p:nvSpPr>
        <p:spPr>
          <a:xfrm>
            <a:off x="6126480" y="1737360"/>
            <a:ext cx="2606040" cy="3200400"/>
          </a:xfrm>
          <a:prstGeom prst="roundRect">
            <a:avLst>
              <a:gd name="adj" fmla="val 3509"/>
            </a:avLst>
          </a:prstGeom>
          <a:solidFill>
            <a:srgbClr val="F5E9D2"/>
          </a:solidFill>
          <a:ln w="12700">
            <a:solidFill>
              <a:srgbClr val="E1E4DE"/>
            </a:solidFill>
            <a:prstDash val="solid"/>
          </a:ln>
        </p:spPr>
      </p:sp>
      <p:sp>
        <p:nvSpPr>
          <p:cNvPr id="11" name="Text 9"/>
          <p:cNvSpPr txBox="1"/>
          <p:nvPr/>
        </p:nvSpPr>
        <p:spPr>
          <a:xfrm>
            <a:off x="6309360" y="1874520"/>
            <a:ext cx="2286000" cy="457200"/>
          </a:xfrm>
          <a:prstGeom prst="rect">
            <a:avLst/>
          </a:prstGeom>
          <a:noFill/>
          <a:ln/>
        </p:spPr>
        <p:txBody>
          <a:bodyPr wrap="square" lIns="0" tIns="0" rIns="0" bIns="0" rtlCol="0" anchor="ctr"/>
          <a:lstStyle/>
          <a:p>
            <a:pPr indent="0" marL="0">
              <a:buNone/>
            </a:pPr>
            <a:r>
              <a:rPr lang="en-US" sz="2000" b="1" dirty="0">
                <a:solidFill>
                  <a:srgbClr val="15222A"/>
                </a:solidFill>
                <a:latin typeface="Cambria" pitchFamily="34" charset="0"/>
                <a:ea typeface="Cambria" pitchFamily="34" charset="-122"/>
                <a:cs typeface="Cambria" pitchFamily="34" charset="-120"/>
              </a:rPr>
              <a:t>6 months</a:t>
            </a:r>
            <a:endParaRPr lang="en-US" sz="2000" dirty="0"/>
          </a:p>
        </p:txBody>
      </p:sp>
      <p:sp>
        <p:nvSpPr>
          <p:cNvPr id="12" name="Text 10"/>
          <p:cNvSpPr txBox="1"/>
          <p:nvPr/>
        </p:nvSpPr>
        <p:spPr>
          <a:xfrm>
            <a:off x="6309360" y="2423160"/>
            <a:ext cx="2286000" cy="2377440"/>
          </a:xfrm>
          <a:prstGeom prst="rect">
            <a:avLst/>
          </a:prstGeom>
          <a:noFill/>
          <a:ln/>
        </p:spPr>
        <p:txBody>
          <a:bodyPr wrap="square" lIns="0" tIns="0" rIns="0" bIns="0" rtlCol="0" anchor="t"/>
          <a:lstStyle/>
          <a:p>
            <a:pPr indent="0" marL="0">
              <a:buNone/>
            </a:pPr>
            <a:r>
              <a:rPr lang="en-US" sz="1350" dirty="0">
                <a:solidFill>
                  <a:srgbClr val="4C5A60"/>
                </a:solidFill>
                <a:latin typeface="Calibri" pitchFamily="34" charset="0"/>
                <a:ea typeface="Calibri" pitchFamily="34" charset="-122"/>
                <a:cs typeface="Calibri" pitchFamily="34" charset="-120"/>
              </a:rPr>
              <a:t>Live ABDM / Health Connect connectors; more Indian languages; clinician usability study</a:t>
            </a:r>
            <a:endParaRPr lang="en-US" sz="1350" dirty="0"/>
          </a:p>
        </p:txBody>
      </p:sp>
      <p:sp>
        <p:nvSpPr>
          <p:cNvPr id="13" name="Shape 11"/>
          <p:cNvSpPr/>
          <p:nvPr/>
        </p:nvSpPr>
        <p:spPr>
          <a:xfrm>
            <a:off x="8915400" y="1737360"/>
            <a:ext cx="2606040" cy="3200400"/>
          </a:xfrm>
          <a:prstGeom prst="roundRect">
            <a:avLst>
              <a:gd name="adj" fmla="val 3509"/>
            </a:avLst>
          </a:prstGeom>
          <a:solidFill>
            <a:srgbClr val="FDE9E0"/>
          </a:solidFill>
          <a:ln w="12700">
            <a:solidFill>
              <a:srgbClr val="E1E4DE"/>
            </a:solidFill>
            <a:prstDash val="solid"/>
          </a:ln>
        </p:spPr>
      </p:sp>
      <p:sp>
        <p:nvSpPr>
          <p:cNvPr id="14" name="Text 12"/>
          <p:cNvSpPr txBox="1"/>
          <p:nvPr/>
        </p:nvSpPr>
        <p:spPr>
          <a:xfrm>
            <a:off x="9098280" y="1874520"/>
            <a:ext cx="2286000" cy="457200"/>
          </a:xfrm>
          <a:prstGeom prst="rect">
            <a:avLst/>
          </a:prstGeom>
          <a:noFill/>
          <a:ln/>
        </p:spPr>
        <p:txBody>
          <a:bodyPr wrap="square" lIns="0" tIns="0" rIns="0" bIns="0" rtlCol="0" anchor="ctr"/>
          <a:lstStyle/>
          <a:p>
            <a:pPr indent="0" marL="0">
              <a:buNone/>
            </a:pPr>
            <a:r>
              <a:rPr lang="en-US" sz="2000" b="1" dirty="0">
                <a:solidFill>
                  <a:srgbClr val="15222A"/>
                </a:solidFill>
                <a:latin typeface="Cambria" pitchFamily="34" charset="0"/>
                <a:ea typeface="Cambria" pitchFamily="34" charset="-122"/>
                <a:cs typeface="Cambria" pitchFamily="34" charset="-120"/>
              </a:rPr>
              <a:t>12 months</a:t>
            </a:r>
            <a:endParaRPr lang="en-US" sz="2000" dirty="0"/>
          </a:p>
        </p:txBody>
      </p:sp>
      <p:sp>
        <p:nvSpPr>
          <p:cNvPr id="15" name="Text 13"/>
          <p:cNvSpPr txBox="1"/>
          <p:nvPr/>
        </p:nvSpPr>
        <p:spPr>
          <a:xfrm>
            <a:off x="9098280" y="2423160"/>
            <a:ext cx="2286000" cy="2377440"/>
          </a:xfrm>
          <a:prstGeom prst="rect">
            <a:avLst/>
          </a:prstGeom>
          <a:noFill/>
          <a:ln/>
        </p:spPr>
        <p:txBody>
          <a:bodyPr wrap="square" lIns="0" tIns="0" rIns="0" bIns="0" rtlCol="0" anchor="t"/>
          <a:lstStyle/>
          <a:p>
            <a:pPr indent="0" marL="0">
              <a:buNone/>
            </a:pPr>
            <a:r>
              <a:rPr lang="en-US" sz="1350" dirty="0">
                <a:solidFill>
                  <a:srgbClr val="4C5A60"/>
                </a:solidFill>
                <a:latin typeface="Calibri" pitchFamily="34" charset="0"/>
                <a:ea typeface="Calibri" pitchFamily="34" charset="-122"/>
                <a:cs typeface="Calibri" pitchFamily="34" charset="-120"/>
              </a:rPr>
              <a:t>Prospective pilot with a diabetes clinic; weekly cardiovascular-risk twin from sleep and HRV; CDSCO SaMD pathway</a:t>
            </a:r>
            <a:endParaRPr lang="en-US" sz="1350" dirty="0"/>
          </a:p>
        </p:txBody>
      </p:sp>
      <p:sp>
        <p:nvSpPr>
          <p:cNvPr id="16" name="Shape 14"/>
          <p:cNvSpPr/>
          <p:nvPr/>
        </p:nvSpPr>
        <p:spPr>
          <a:xfrm>
            <a:off x="548640" y="5166360"/>
            <a:ext cx="11064240" cy="1051560"/>
          </a:xfrm>
          <a:prstGeom prst="roundRect">
            <a:avLst>
              <a:gd name="adj" fmla="val 6957"/>
            </a:avLst>
          </a:prstGeom>
          <a:solidFill>
            <a:srgbClr val="FFFFFF"/>
          </a:solidFill>
          <a:ln w="12700">
            <a:solidFill>
              <a:srgbClr val="E1E4DE"/>
            </a:solidFill>
            <a:prstDash val="solid"/>
          </a:ln>
        </p:spPr>
      </p:sp>
      <p:sp>
        <p:nvSpPr>
          <p:cNvPr id="17" name="Text 15"/>
          <p:cNvSpPr txBox="1"/>
          <p:nvPr/>
        </p:nvSpPr>
        <p:spPr>
          <a:xfrm>
            <a:off x="749808" y="5312664"/>
            <a:ext cx="10661904" cy="365760"/>
          </a:xfrm>
          <a:prstGeom prst="rect">
            <a:avLst/>
          </a:prstGeom>
          <a:noFill/>
          <a:ln/>
        </p:spPr>
        <p:txBody>
          <a:bodyPr wrap="square" lIns="0" tIns="0" rIns="0" bIns="0" rtlCol="0" anchor="ctr"/>
          <a:lstStyle/>
          <a:p>
            <a:pPr indent="0" marL="0">
              <a:buNone/>
            </a:pPr>
            <a:r>
              <a:rPr lang="en-US" sz="1600" b="1" dirty="0">
                <a:solidFill>
                  <a:srgbClr val="15222A"/>
                </a:solidFill>
                <a:latin typeface="Calibri" pitchFamily="34" charset="0"/>
                <a:ea typeface="Calibri" pitchFamily="34" charset="-122"/>
                <a:cs typeface="Calibri" pitchFamily="34" charset="-120"/>
              </a:rPr>
              <a:t>Impact</a:t>
            </a:r>
            <a:endParaRPr lang="en-US" sz="1600" dirty="0"/>
          </a:p>
        </p:txBody>
      </p:sp>
      <p:sp>
        <p:nvSpPr>
          <p:cNvPr id="18" name="Text 16"/>
          <p:cNvSpPr txBox="1"/>
          <p:nvPr/>
        </p:nvSpPr>
        <p:spPr>
          <a:xfrm>
            <a:off x="749808" y="5715000"/>
            <a:ext cx="10661904" cy="365760"/>
          </a:xfrm>
          <a:prstGeom prst="rect">
            <a:avLst/>
          </a:prstGeom>
          <a:noFill/>
          <a:ln/>
        </p:spPr>
        <p:txBody>
          <a:bodyPr wrap="square" lIns="0" tIns="0" rIns="0" bIns="0" rtlCol="0" anchor="t"/>
          <a:lstStyle/>
          <a:p>
            <a:pPr indent="0" marL="0">
              <a:spcAft>
                <a:spcPts val="600"/>
              </a:spcAft>
              <a:buNone/>
            </a:pPr>
            <a:r>
              <a:rPr lang="en-US" sz="1400" dirty="0">
                <a:solidFill>
                  <a:srgbClr val="4C5A60"/>
                </a:solidFill>
                <a:latin typeface="Calibri" pitchFamily="34" charset="0"/>
                <a:ea typeface="Calibri" pitchFamily="34" charset="-122"/>
                <a:cs typeface="Calibri" pitchFamily="34" charset="-120"/>
              </a:rPr>
              <a:t>The aim, still to be tested in a clinic: turn CGM from a retrospective report into a proactive, personalised coach, with advice tailored to how each patient responds and a screen doctors can act on in a two-minute consult.</a:t>
            </a:r>
            <a:endParaRPr lang="en-US" sz="1400" dirty="0"/>
          </a:p>
        </p:txBody>
      </p:sp>
      <p:sp>
        <p:nvSpPr>
          <p:cNvPr id="19"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7F8B8F"/>
                </a:solidFill>
                <a:latin typeface="Calibri" pitchFamily="34" charset="0"/>
                <a:ea typeface="Calibri" pitchFamily="34" charset="-122"/>
                <a:cs typeface="Calibri" pitchFamily="34" charset="-120"/>
              </a:rPr>
              <a:t>MadhuTwin · Team Vantage</a:t>
            </a:r>
            <a:endParaRPr lang="en-US" sz="1000" dirty="0"/>
          </a:p>
        </p:txBody>
      </p:sp>
      <p:sp>
        <p:nvSpPr>
          <p:cNvPr id="20" name="Text 1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7F8B8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2A"/>
        </a:solidFill>
      </p:bgPr>
    </p:bg>
    <p:spTree>
      <p:nvGrpSpPr>
        <p:cNvPr id="1" name=""/>
        <p:cNvGrpSpPr/>
        <p:nvPr/>
      </p:nvGrpSpPr>
      <p:grpSpPr>
        <a:xfrm>
          <a:off x="0" y="0"/>
          <a:ext cx="0" cy="0"/>
          <a:chOff x="0" y="0"/>
          <a:chExt cx="0" cy="0"/>
        </a:xfrm>
      </p:grpSpPr>
      <p:sp>
        <p:nvSpPr>
          <p:cNvPr id="2" name="Shape 0"/>
          <p:cNvSpPr/>
          <p:nvPr/>
        </p:nvSpPr>
        <p:spPr>
          <a:xfrm>
            <a:off x="548640" y="640080"/>
            <a:ext cx="411480" cy="411480"/>
          </a:xfrm>
          <a:prstGeom prst="ellipse">
            <a:avLst/>
          </a:prstGeom>
          <a:solidFill>
            <a:srgbClr val="C9820A"/>
          </a:solidFill>
          <a:ln w="19050">
            <a:solidFill>
              <a:srgbClr val="F3C35B"/>
            </a:solidFill>
            <a:prstDash val="solid"/>
          </a:ln>
        </p:spPr>
      </p:sp>
      <p:sp>
        <p:nvSpPr>
          <p:cNvPr id="3" name="Text 1"/>
          <p:cNvSpPr txBox="1"/>
          <p:nvPr/>
        </p:nvSpPr>
        <p:spPr>
          <a:xfrm>
            <a:off x="548640" y="1280160"/>
            <a:ext cx="109728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2"/>
          <p:cNvSpPr txBox="1"/>
          <p:nvPr/>
        </p:nvSpPr>
        <p:spPr>
          <a:xfrm>
            <a:off x="548640" y="2377440"/>
            <a:ext cx="10972800" cy="457200"/>
          </a:xfrm>
          <a:prstGeom prst="rect">
            <a:avLst/>
          </a:prstGeom>
          <a:noFill/>
          <a:ln/>
        </p:spPr>
        <p:txBody>
          <a:bodyPr wrap="square" lIns="0" tIns="0" rIns="0" bIns="0" rtlCol="0" anchor="ctr"/>
          <a:lstStyle/>
          <a:p>
            <a:pPr indent="0" marL="0">
              <a:buNone/>
            </a:pPr>
            <a:r>
              <a:rPr lang="en-US" sz="2000" b="1" dirty="0">
                <a:solidFill>
                  <a:srgbClr val="E3A54A"/>
                </a:solidFill>
                <a:latin typeface="Calibri" pitchFamily="34" charset="0"/>
                <a:ea typeface="Calibri" pitchFamily="34" charset="-122"/>
                <a:cs typeface="Calibri" pitchFamily="34" charset="-120"/>
              </a:rPr>
              <a:t>Team Vantage</a:t>
            </a:r>
            <a:endParaRPr lang="en-US" sz="2000" dirty="0"/>
          </a:p>
        </p:txBody>
      </p:sp>
      <p:sp>
        <p:nvSpPr>
          <p:cNvPr id="5" name="Text 3"/>
          <p:cNvSpPr txBox="1"/>
          <p:nvPr/>
        </p:nvSpPr>
        <p:spPr>
          <a:xfrm>
            <a:off x="548640" y="2926080"/>
            <a:ext cx="10972800" cy="2194560"/>
          </a:xfrm>
          <a:prstGeom prst="rect">
            <a:avLst/>
          </a:prstGeom>
          <a:noFill/>
          <a:ln/>
        </p:spPr>
        <p:txBody>
          <a:bodyPr wrap="square" lIns="0" tIns="0" rIns="0" bIns="0" rtlCol="0" anchor="t"/>
          <a:lstStyle/>
          <a:p>
            <a:pPr indent="0" marL="0">
              <a:buNone/>
            </a:pPr>
            <a:r>
              <a:rPr lang="en-US" sz="1800" b="1" dirty="0">
                <a:solidFill>
                  <a:srgbClr val="9FB0B3"/>
                </a:solidFill>
                <a:latin typeface="Calibri" pitchFamily="34" charset="0"/>
                <a:ea typeface="Calibri" pitchFamily="34" charset="-122"/>
                <a:cs typeface="Calibri" pitchFamily="34" charset="-120"/>
              </a:rPr>
              <a:t>Team Leader</a:t>
            </a:r>
            <a:endParaRPr lang="en-US" sz="1800" dirty="0"/>
          </a:p>
          <a:p>
            <a:pPr indent="0" marL="0">
              <a:buNone/>
            </a:pPr>
            <a:r>
              <a:rPr lang="en-US" sz="1800" dirty="0">
                <a:solidFill>
                  <a:srgbClr val="D6DEDF"/>
                </a:solidFill>
                <a:latin typeface="Calibri" pitchFamily="34" charset="0"/>
                <a:ea typeface="Calibri" pitchFamily="34" charset="-122"/>
                <a:cs typeface="Calibri" pitchFamily="34" charset="-120"/>
              </a:rPr>
              <a:t>Silla Puja</a:t>
            </a:r>
            <a:endParaRPr lang="en-US" sz="1800" dirty="0"/>
          </a:p>
          <a:p>
            <a:pPr indent="0" marL="0">
              <a:buNone/>
            </a:pPr>
            <a:r>
              <a:rPr lang="en-US" sz="1800" dirty="0">
                <a:solidFill>
                  <a:srgbClr val="D6DEDF"/>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9FB0B3"/>
                </a:solidFill>
                <a:latin typeface="Calibri" pitchFamily="34" charset="0"/>
                <a:ea typeface="Calibri" pitchFamily="34" charset="-122"/>
                <a:cs typeface="Calibri" pitchFamily="34" charset="-120"/>
              </a:rPr>
              <a:t>Team Members</a:t>
            </a:r>
            <a:endParaRPr lang="en-US" sz="1800" dirty="0"/>
          </a:p>
          <a:p>
            <a:pPr indent="0" marL="0">
              <a:buNone/>
            </a:pPr>
            <a:r>
              <a:rPr lang="en-US" sz="1800" dirty="0">
                <a:solidFill>
                  <a:srgbClr val="D6DEDF"/>
                </a:solidFill>
                <a:latin typeface="Calibri" pitchFamily="34" charset="0"/>
                <a:ea typeface="Calibri" pitchFamily="34" charset="-122"/>
                <a:cs typeface="Calibri" pitchFamily="34" charset="-120"/>
              </a:rPr>
              <a:t>Shourya Singh</a:t>
            </a:r>
            <a:endParaRPr lang="en-US" sz="1800" dirty="0"/>
          </a:p>
          <a:p>
            <a:pPr indent="0" marL="0">
              <a:buNone/>
            </a:pPr>
            <a:r>
              <a:rPr lang="en-US" sz="1800" dirty="0">
                <a:solidFill>
                  <a:srgbClr val="D6DEDF"/>
                </a:solidFill>
                <a:latin typeface="Calibri" pitchFamily="34" charset="0"/>
                <a:ea typeface="Calibri" pitchFamily="34" charset="-122"/>
                <a:cs typeface="Calibri" pitchFamily="34" charset="-120"/>
              </a:rPr>
              <a:t>Ridhima Goyal</a:t>
            </a:r>
            <a:endParaRPr lang="en-US" sz="1800" dirty="0"/>
          </a:p>
        </p:txBody>
      </p:sp>
      <p:sp>
        <p:nvSpPr>
          <p:cNvPr id="6" name="Text 4"/>
          <p:cNvSpPr txBox="1"/>
          <p:nvPr/>
        </p:nvSpPr>
        <p:spPr>
          <a:xfrm>
            <a:off x="548640" y="5394960"/>
            <a:ext cx="10972800" cy="457200"/>
          </a:xfrm>
          <a:prstGeom prst="rect">
            <a:avLst/>
          </a:prstGeom>
          <a:noFill/>
          <a:ln/>
        </p:spPr>
        <p:txBody>
          <a:bodyPr wrap="square" lIns="0" tIns="0" rIns="0" bIns="0" rtlCol="0" anchor="ctr"/>
          <a:lstStyle/>
          <a:p>
            <a:pPr indent="0" marL="0">
              <a:buNone/>
            </a:pPr>
            <a:r>
              <a:rPr lang="en-US" sz="1400" dirty="0">
                <a:solidFill>
                  <a:srgbClr val="B3BFC1"/>
                </a:solidFill>
                <a:latin typeface="Calibri" pitchFamily="34" charset="0"/>
                <a:ea typeface="Calibri" pitchFamily="34" charset="-122"/>
                <a:cs typeface="Calibri" pitchFamily="34" charset="-120"/>
              </a:rPr>
              <a:t>Management Development Institute, Gurgaon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MadhuTwin: a digital twin for Type 2 Diabetes in India</dc:title>
  <dc:subject>PptxGenJS Presentation</dc:subject>
  <dc:creator>Team Vantage</dc:creator>
  <cp:lastModifiedBy>Team Vantage</cp:lastModifiedBy>
  <cp:revision>1</cp:revision>
  <dcterms:created xsi:type="dcterms:W3CDTF">2026-10-20T06:02:43Z</dcterms:created>
  <dcterms:modified xsi:type="dcterms:W3CDTF">2026-10-20T06:02:43Z</dcterms:modified>
</cp:coreProperties>
</file>